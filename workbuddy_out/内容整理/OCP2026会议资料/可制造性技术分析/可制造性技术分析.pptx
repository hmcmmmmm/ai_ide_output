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lineChart>
        <c:grouping val="stack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逃逸成本</c:v>
                </c:pt>
              </c:strCache>
            </c:strRef>
          </c:tx>
          <c:spPr>
            <a:ln w="19050" cap="flat">
              <a:solidFill>
                <a:srgbClr val="C8A15A"/>
              </a:solidFill>
              <a:round/>
            </a:ln>
          </c:spPr>
          <c:cat>
            <c:strRef>
              <c:strCache>
                <c:ptCount val="7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  <c:pt idx="5">
                  <c:v>90</c:v>
                </c:pt>
                <c:pt idx="6">
                  <c:v>100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100</c:v>
                </c:pt>
                <c:pt idx="1">
                  <c:v>64</c:v>
                </c:pt>
                <c:pt idx="2">
                  <c:v>41</c:v>
                </c:pt>
                <c:pt idx="3">
                  <c:v>26</c:v>
                </c:pt>
                <c:pt idx="4">
                  <c:v>16</c:v>
                </c:pt>
                <c:pt idx="5">
                  <c:v>10</c:v>
                </c:pt>
                <c:pt idx="6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验证成本</c:v>
                </c:pt>
              </c:strCache>
            </c:strRef>
          </c:tx>
          <c:spPr>
            <a:ln w="19050" cap="flat">
              <a:solidFill>
                <a:srgbClr val="7C8B9E"/>
              </a:solidFill>
              <a:round/>
            </a:ln>
          </c:spPr>
          <c:cat>
            <c:strRef>
              <c:strCache>
                <c:ptCount val="7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70</c:v>
                </c:pt>
                <c:pt idx="4">
                  <c:v>80</c:v>
                </c:pt>
                <c:pt idx="5">
                  <c:v>90</c:v>
                </c:pt>
                <c:pt idx="6">
                  <c:v>100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9</c:v>
                </c:pt>
                <c:pt idx="4">
                  <c:v>15</c:v>
                </c:pt>
                <c:pt idx="5">
                  <c:v>26</c:v>
                </c:pt>
                <c:pt idx="6">
                  <c:v>45</c:v>
                </c:pt>
              </c:numCache>
            </c:numRef>
          </c:val>
        </c:ser>
        <c:marker/>
        <c:axId val="89736801"/>
        <c:axId val="89736802"/>
      </c:line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A99AC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A99AC"/>
                </a:solidFill>
              </a:defRPr>
            </a:pPr>
          </a:p>
        </c:txPr>
        <c:crossAx val="89736801"/>
        <c:crossBetween val="between"/>
      </c:valAx>
      <c:spPr>
        <a:solidFill>
          <a:srgbClr val="0E1420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8A99AC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685800" y="914400"/>
            <a:ext cx="28575" cy="50292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153400" y="1304925"/>
            <a:ext cx="139065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spc="-150">
                <a:solidFill>
                  <a:srgbClr val="E8EDF3">
                    <a:alpha val="13000"/>
                  </a:srgbClr>
                </a:solidFill>
                <a:latin typeface="Georgia"/>
                <a:ea typeface="Georgia"/>
              </a:rPr>
              <a:t>L10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1106150" y="1914525"/>
            <a:ext cx="400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C8A15A">
                    <a:alpha val="60000"/>
                  </a:srgbClr>
                </a:solidFill>
                <a:latin typeface="Georgia"/>
                <a:ea typeface="Georgia"/>
              </a:rPr>
              <a:t>TRAY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887075" y="21336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托盘级验收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153400" y="2362200"/>
            <a:ext cx="3352800" cy="9525"/>
          </a:xfrm>
          <a:prstGeom prst="rect">
            <a:avLst/>
          </a:prstGeom>
          <a:solidFill>
            <a:srgbClr val="E8EDF3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153400" y="2419350"/>
            <a:ext cx="12287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spc="-150">
                <a:solidFill>
                  <a:srgbClr val="E8EDF3">
                    <a:alpha val="13000"/>
                  </a:srgbClr>
                </a:solidFill>
                <a:latin typeface="Georgia"/>
                <a:ea typeface="Georgia"/>
              </a:rPr>
              <a:t>L11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087100" y="30289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C8A15A">
                    <a:alpha val="60000"/>
                  </a:srgbClr>
                </a:solidFill>
                <a:latin typeface="Georgia"/>
                <a:ea typeface="Georgia"/>
              </a:rPr>
              <a:t>RACK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887075" y="32480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整机柜验收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153400" y="3476625"/>
            <a:ext cx="3352800" cy="9525"/>
          </a:xfrm>
          <a:prstGeom prst="rect">
            <a:avLst/>
          </a:prstGeom>
          <a:solidFill>
            <a:srgbClr val="E8EDF3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53400" y="3533775"/>
            <a:ext cx="134302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spc="-150">
                <a:solidFill>
                  <a:srgbClr val="E8EDF3">
                    <a:alpha val="13000"/>
                  </a:srgbClr>
                </a:solidFill>
                <a:latin typeface="Georgia"/>
                <a:ea typeface="Georgia"/>
              </a:rPr>
              <a:t>L12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0810875" y="4143375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C8A15A">
                    <a:alpha val="60000"/>
                  </a:srgbClr>
                </a:solidFill>
                <a:latin typeface="Georgia"/>
                <a:ea typeface="Georgia"/>
              </a:rPr>
              <a:t>CLUSTER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887075" y="43624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集群级验收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143000" y="914400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技术分析报告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2247900" y="990600"/>
            <a:ext cx="266700" cy="9525"/>
          </a:xfrm>
          <a:prstGeom prst="rect">
            <a:avLst/>
          </a:prstGeom>
          <a:solidFill>
            <a:srgbClr val="E8EDF3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647950" y="914400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55000"/>
                  </a:srgbClr>
                </a:solidFill>
                <a:latin typeface="Georgia"/>
                <a:ea typeface="Georgia"/>
              </a:rPr>
              <a:t>OCP GLOBAL SUMMIT 2026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43000" y="1609725"/>
            <a:ext cx="6667500" cy="20383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5550" b="1">
                <a:solidFill>
                  <a:srgbClr val="E8EDF3"/>
                </a:solidFill>
                <a:latin typeface="Microsoft YaHei"/>
                <a:ea typeface="Microsoft YaHei"/>
              </a:rPr>
              <a:t>「可制造性」</a:t>
            </a:r>
            <a:endParaRPr/>
          </a:p>
          <a:p>
            <a:pPr>
              <a:lnSpc>
                <a:spcPct val="120000"/>
              </a:lnSpc>
            </a:pPr>
            <a:r>
              <a:rPr lang="zh-CN" sz="5550" b="1">
                <a:solidFill>
                  <a:srgbClr val="E8EDF3"/>
                </a:solidFill>
                <a:latin typeface="Microsoft YaHei"/>
                <a:ea typeface="Microsoft YaHei"/>
              </a:rPr>
              <a:t>评估维度解析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143000" y="3914775"/>
            <a:ext cx="609600" cy="190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43000" y="4162425"/>
            <a:ext cx="66675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75">
                <a:solidFill>
                  <a:srgbClr val="E8EDF3">
                    <a:alpha val="74000"/>
                  </a:srgbClr>
                </a:solidFill>
                <a:latin typeface="Microsoft YaHei"/>
                <a:ea typeface="Microsoft YaHei"/>
              </a:rPr>
              <a:t xml:space="preserve">L10–L12 </a:t>
            </a:r>
            <a:r>
              <a:rPr lang="zh-CN" sz="1575">
                <a:solidFill>
                  <a:srgbClr val="E8EDF3">
                    <a:alpha val="74000"/>
                  </a:srgbClr>
                </a:solidFill>
                <a:latin typeface="Microsoft YaHei"/>
                <a:ea typeface="Microsoft YaHei"/>
              </a:rPr>
              <a:t>测试覆盖</a:t>
            </a:r>
            <a:r>
              <a:rPr lang="en-US" sz="1575">
                <a:solidFill>
                  <a:srgbClr val="E8EDF3">
                    <a:alpha val="74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>
                <a:solidFill>
                  <a:srgbClr val="E8EDF3">
                    <a:alpha val="74000"/>
                  </a:srgbClr>
                </a:solidFill>
                <a:latin typeface="Microsoft YaHei"/>
                <a:ea typeface="Microsoft YaHei"/>
              </a:rPr>
              <a:t>线缆与液路验证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43000" y="4552950"/>
            <a:ext cx="66675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E8EDF3">
                    <a:alpha val="40000"/>
                  </a:srgbClr>
                </a:solidFill>
                <a:latin typeface="Microsoft YaHei"/>
                <a:ea typeface="Microsoft YaHei"/>
              </a:rPr>
              <a:t>以及「样机可运行即视为可量产」的工程含义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1143000" y="5543550"/>
            <a:ext cx="57150" cy="571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95400" y="546735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8A15A"/>
                </a:solidFill>
                <a:latin typeface="Microsoft YaHei"/>
                <a:ea typeface="Microsoft YaHei"/>
              </a:rPr>
              <a:t>样机可运行</a:t>
            </a:r>
            <a:r>
              <a:rPr lang="en-US" sz="1275">
                <a:solidFill>
                  <a:srgbClr val="C8A15A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75">
                <a:solidFill>
                  <a:srgbClr val="C8A15A"/>
                </a:solidFill>
                <a:latin typeface="Microsoft YaHei"/>
                <a:ea typeface="Microsoft YaHei"/>
              </a:rPr>
              <a:t>可量产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3000" y="57816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6000"/>
                  </a:srgbClr>
                </a:solidFill>
                <a:latin typeface="Microsoft YaHei"/>
                <a:ea typeface="Microsoft YaHei"/>
              </a:rPr>
              <a:t>研发管理层内部参考</a:t>
            </a:r>
            <a:r>
              <a:rPr lang="en-US" sz="1050">
                <a:solidFill>
                  <a:srgbClr val="E8EDF3">
                    <a:alpha val="36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E8EDF3">
                    <a:alpha val="36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E8EDF3">
                    <a:alpha val="36000"/>
                  </a:srgbClr>
                </a:solidFill>
                <a:latin typeface="Microsoft YaHei"/>
                <a:ea typeface="Microsoft YaHei"/>
              </a:rPr>
              <a:t xml:space="preserve"> OCP 2026 </a:t>
            </a:r>
            <a:r>
              <a:rPr lang="zh-CN" sz="1050">
                <a:solidFill>
                  <a:srgbClr val="E8EDF3">
                    <a:alpha val="36000"/>
                  </a:srgbClr>
                </a:solidFill>
                <a:latin typeface="Microsoft YaHei"/>
                <a:ea typeface="Microsoft YaHei"/>
              </a:rPr>
              <a:t>官方演示材料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324725" y="5781675"/>
            <a:ext cx="485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36000"/>
                  </a:srgbClr>
                </a:solidFill>
                <a:latin typeface="Georgia"/>
                <a:ea typeface="Georgia"/>
              </a:rPr>
              <a:t>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85800" y="1428750"/>
            <a:ext cx="274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E8EDF3">
                    <a:alpha val="38000"/>
                  </a:srgbClr>
                </a:solidFill>
                <a:latin typeface="Georgia"/>
                <a:ea typeface="Georgia"/>
              </a:rPr>
              <a:t>CONTENTS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85800" y="1733550"/>
            <a:ext cx="2743200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450" b="1">
                <a:solidFill>
                  <a:srgbClr val="E8EDF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685800" y="2562225"/>
            <a:ext cx="533400" cy="190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743200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四章，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四个必须回答的问题。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274320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spc="-300">
                <a:solidFill>
                  <a:srgbClr val="E8EDF3">
                    <a:alpha val="6000"/>
                  </a:srgbClr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000500" y="1352550"/>
            <a:ext cx="5905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>
                <a:solidFill>
                  <a:srgbClr val="C8A15A"/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591050" y="1352550"/>
            <a:ext cx="214312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75" b="1">
                <a:solidFill>
                  <a:srgbClr val="E8EDF3"/>
                </a:solidFill>
                <a:latin typeface="Microsoft YaHei"/>
                <a:ea typeface="Microsoft YaHei"/>
              </a:rPr>
              <a:t>起点：一行十九个字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106150" y="1514475"/>
            <a:ext cx="4000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P3–P4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591050" y="1809750"/>
            <a:ext cx="6915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为什么这一行值得单独拆——它把「做出来了」和「能重复做出来」切成两件事。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000500" y="2343150"/>
            <a:ext cx="75057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000500" y="2352675"/>
            <a:ext cx="5905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>
                <a:solidFill>
                  <a:srgbClr val="C8A15A"/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591050" y="2352675"/>
            <a:ext cx="1905000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75" b="1">
                <a:solidFill>
                  <a:srgbClr val="E8EDF3"/>
                </a:solidFill>
                <a:latin typeface="Microsoft YaHei"/>
                <a:ea typeface="Microsoft YaHei"/>
              </a:rPr>
              <a:t>三级验收与覆盖率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106150" y="2514600"/>
            <a:ext cx="4000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P5–P9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591050" y="2809875"/>
            <a:ext cx="6915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 xml:space="preserve">L10 / L11 / L12 </a:t>
            </a:r>
            <a:r>
              <a:rPr lang="zh-CN" sz="1125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各自证明什么、不证明什么；覆盖率如何不被一个百分比糊弄。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000500" y="3343275"/>
            <a:ext cx="75057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000500" y="3352800"/>
            <a:ext cx="5905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>
                <a:solidFill>
                  <a:srgbClr val="C8A15A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591050" y="3352800"/>
            <a:ext cx="26193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75" b="1">
                <a:solidFill>
                  <a:srgbClr val="E8EDF3"/>
                </a:solidFill>
                <a:latin typeface="Microsoft YaHei"/>
                <a:ea typeface="Microsoft YaHei"/>
              </a:rPr>
              <a:t>两个物理面：线缆与液路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982325" y="3514725"/>
            <a:ext cx="523875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P10–P12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591050" y="3810000"/>
            <a:ext cx="6915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为什么偏偏点名这两类，以及它们的缺陷为什么在样机阶段不暴露。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000500" y="4343400"/>
            <a:ext cx="75057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000500" y="4352925"/>
            <a:ext cx="59055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400">
                <a:solidFill>
                  <a:srgbClr val="C8A15A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591050" y="4352925"/>
            <a:ext cx="1428750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75" b="1">
                <a:solidFill>
                  <a:srgbClr val="E8EDF3"/>
                </a:solidFill>
                <a:latin typeface="Microsoft YaHei"/>
                <a:ea typeface="Microsoft YaHei"/>
              </a:rPr>
              <a:t>从误区到工具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991850" y="45148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050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P13–P16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91050" y="4810125"/>
            <a:ext cx="6915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「样机可运行即可量产」错在哪一步，以及用什么判据替换它。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4000500" y="5343525"/>
            <a:ext cx="75057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000500" y="5667375"/>
            <a:ext cx="47625" cy="47625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162425" y="5600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阅读建议：</a:t>
            </a:r>
            <a:r>
              <a:rPr lang="en-US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P6</a:t>
            </a:r>
            <a:r>
              <a:rPr lang="zh-CN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P8</a:t>
            </a:r>
            <a:r>
              <a:rPr lang="zh-CN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P11 </a:t>
            </a:r>
            <a:r>
              <a:rPr lang="zh-CN" sz="112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三页可独立抽出，作为单独议题上会。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820150" y="1905000"/>
            <a:ext cx="28384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spc="-600">
                <a:solidFill>
                  <a:srgbClr val="E8EDF3">
                    <a:alpha val="5000"/>
                  </a:srgbClr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85800" y="1962150"/>
            <a:ext cx="28575" cy="29908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95375" y="19621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75">
                <a:solidFill>
                  <a:srgbClr val="C8A15A"/>
                </a:solidFill>
                <a:latin typeface="Georgia"/>
                <a:ea typeface="Georgia"/>
              </a:rPr>
              <a:t>CHAPTER 01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95375" y="2400300"/>
            <a:ext cx="5334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E8EDF3"/>
                </a:solidFill>
                <a:latin typeface="Microsoft YaHei"/>
                <a:ea typeface="Microsoft YaHei"/>
              </a:rPr>
              <a:t>起点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1095375" y="3371850"/>
            <a:ext cx="609600" cy="9525"/>
          </a:xfrm>
          <a:prstGeom prst="rect">
            <a:avLst/>
          </a:prstGeom>
          <a:solidFill>
            <a:srgbClr val="E8EDF3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095375" y="3629025"/>
            <a:ext cx="53340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一行十九个字。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095375" y="4191000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这是整份报告里唯一一处，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把「做出来了」和「能重复做出来」明确切开。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本章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P3–P4 ·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7630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六个维度里，只有「可制造性」把证据卡在决策之后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0725150" y="43815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01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起点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85800" y="3962400"/>
            <a:ext cx="6781800" cy="685800"/>
          </a:xfrm>
          <a:prstGeom prst="rect">
            <a:avLst/>
          </a:prstGeom>
          <a:solidFill>
            <a:srgbClr val="C8A15A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85800" y="3962400"/>
            <a:ext cx="28575" cy="6858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295525" y="15049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概念设计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638550" y="1504950"/>
            <a:ext cx="64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样机</a:t>
            </a:r>
            <a:r>
              <a:rPr lang="en-US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DVT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886325" y="1504950"/>
            <a:ext cx="90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制造</a:t>
            </a:r>
            <a:r>
              <a:rPr lang="en-US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PVT·MP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410325" y="1504950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部署运营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85800" y="1828800"/>
            <a:ext cx="67818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85800" y="2105025"/>
            <a:ext cx="342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E8EDF3">
                    <a:alpha val="85000"/>
                  </a:srgbClr>
                </a:solidFill>
                <a:latin typeface="Microsoft YaHei"/>
                <a:ea typeface="Microsoft YaHei"/>
              </a:rPr>
              <a:t>性能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2562225" y="22193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876675" y="2162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248275" y="2162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5286375" y="2200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619875" y="2162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6657975" y="2200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1905000" y="2590800"/>
            <a:ext cx="55626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85800" y="2790825"/>
            <a:ext cx="3429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E8EDF3">
                    <a:alpha val="85000"/>
                  </a:srgbClr>
                </a:solidFill>
                <a:latin typeface="Microsoft YaHei"/>
                <a:ea typeface="Microsoft YaHei"/>
              </a:rPr>
              <a:t>功耗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2505075" y="2847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2543175" y="2886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3876675" y="2847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5248275" y="2847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286375" y="2886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619875" y="28479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1905000" y="3276600"/>
            <a:ext cx="55626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85800" y="3476625"/>
            <a:ext cx="5143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E8EDF3">
                    <a:alpha val="85000"/>
                  </a:srgbClr>
                </a:solidFill>
                <a:latin typeface="Microsoft YaHei"/>
                <a:ea typeface="Microsoft YaHei"/>
              </a:rPr>
              <a:t>可靠性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2562225" y="35909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3876675" y="35337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914775" y="3571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5248275" y="35337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5286375" y="35718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619875" y="35337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1905000" y="3962400"/>
            <a:ext cx="55626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C8A15A"/>
                </a:solidFill>
                <a:latin typeface="Microsoft YaHei"/>
                <a:ea typeface="Microsoft YaHei"/>
              </a:rPr>
              <a:t>可制造性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2562225" y="42767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3933825" y="42767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5248275" y="4219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619875" y="42195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657975" y="42576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A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1905000" y="4648200"/>
            <a:ext cx="55626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85800" y="4848225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E8EDF3">
                    <a:alpha val="85000"/>
                  </a:srgbClr>
                </a:solidFill>
                <a:latin typeface="Microsoft YaHei"/>
                <a:ea typeface="Microsoft YaHei"/>
              </a:rPr>
              <a:t>可维护性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2562225" y="49625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3876675" y="4905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3914775" y="4943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5248275" y="4905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286375" y="4943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619875" y="4905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1905000" y="5334000"/>
            <a:ext cx="55626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85800" y="5534025"/>
            <a:ext cx="8572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E8EDF3">
                    <a:alpha val="85000"/>
                  </a:srgbClr>
                </a:solidFill>
                <a:latin typeface="Microsoft YaHei"/>
                <a:ea typeface="Microsoft YaHei"/>
              </a:rPr>
              <a:t>生态成熟度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2505075" y="5591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2543175" y="5629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3876675" y="5591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3914775" y="5629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248275" y="5591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286375" y="56292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619875" y="55911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781925" y="1447800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读法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781925" y="1695450"/>
            <a:ext cx="304800" cy="9525"/>
          </a:xfrm>
          <a:prstGeom prst="rect">
            <a:avLst/>
          </a:prstGeom>
          <a:solidFill>
            <a:srgbClr val="C8A15A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781925" y="1971675"/>
            <a:ext cx="13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001000" y="1905000"/>
            <a:ext cx="97155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E8EDF3"/>
                </a:solidFill>
                <a:latin typeface="Microsoft YaHei"/>
                <a:ea typeface="Microsoft YaHei"/>
              </a:rPr>
              <a:t>决策早于证据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781925" y="2257425"/>
            <a:ext cx="37242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样机→量产的立项决策，发生在量产证据产生之前。这不是流程缺陷，是产品化的固有节奏。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7781925" y="3181350"/>
            <a:ext cx="3724275" cy="9525"/>
          </a:xfrm>
          <a:prstGeom prst="rect">
            <a:avLst/>
          </a:prstGeom>
          <a:solidFill>
            <a:srgbClr val="E8EDF3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7781925" y="34004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020050" y="3333750"/>
            <a:ext cx="809625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E8EDF3"/>
                </a:solidFill>
                <a:latin typeface="Microsoft YaHei"/>
                <a:ea typeface="Microsoft YaHei"/>
              </a:rPr>
              <a:t>两端都不牢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781925" y="3686175"/>
            <a:ext cx="37242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样机端只有</a:t>
            </a:r>
            <a:r>
              <a:rPr lang="en-US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 xml:space="preserve"> n=1 </a:t>
            </a:r>
            <a:r>
              <a:rPr lang="zh-CN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的存在性证据；分布性证据要等</a:t>
            </a:r>
            <a:r>
              <a:rPr lang="en-US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 xml:space="preserve"> PVT </a:t>
            </a:r>
            <a:r>
              <a:rPr lang="zh-CN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之后才产生。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781925" y="4610100"/>
            <a:ext cx="3724275" cy="9525"/>
          </a:xfrm>
          <a:prstGeom prst="rect">
            <a:avLst/>
          </a:prstGeom>
          <a:solidFill>
            <a:srgbClr val="E8EDF3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781925" y="48291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020050" y="4762500"/>
            <a:ext cx="12954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E8EDF3"/>
                </a:solidFill>
                <a:latin typeface="Microsoft YaHei"/>
                <a:ea typeface="Microsoft YaHei"/>
              </a:rPr>
              <a:t>于是最容易被顶替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7781925" y="5114925"/>
            <a:ext cx="372427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88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评审时用「样机跑通了」代替可制造性论证——不是谁在撒谎，是那一刻确实没有别的证据。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85800" y="61245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E8EDF3"/>
          </a:solidFill>
          <a:ln/>
        </p:spPr>
        <p:txBody>
          <a:bodyPr/>
          <a:p>
            <a:pPr/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57250" y="60960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强证据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1400175" y="6124575"/>
            <a:ext cx="104775" cy="104775"/>
          </a:xfrm>
          <a:prstGeom prst="roundRect">
            <a:avLst>
              <a:gd name="adj" fmla="val 54545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571625" y="6096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部分证据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2238375" y="6143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2362200" y="60960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基本无证据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458200" y="1905000"/>
            <a:ext cx="320040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spc="-600">
                <a:solidFill>
                  <a:srgbClr val="E8EDF3">
                    <a:alpha val="5000"/>
                  </a:srgbClr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85800" y="1962150"/>
            <a:ext cx="28575" cy="3419475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095375" y="19621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75">
                <a:solidFill>
                  <a:srgbClr val="C8A15A"/>
                </a:solidFill>
                <a:latin typeface="Georgia"/>
                <a:ea typeface="Georgia"/>
              </a:rPr>
              <a:t>CHAPTER 02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095375" y="2400300"/>
            <a:ext cx="5334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E8EDF3"/>
                </a:solidFill>
                <a:latin typeface="Microsoft YaHei"/>
                <a:ea typeface="Microsoft YaHei"/>
              </a:rPr>
              <a:t>三级验收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1095375" y="3371850"/>
            <a:ext cx="609600" cy="9525"/>
          </a:xfrm>
          <a:prstGeom prst="rect">
            <a:avLst/>
          </a:prstGeom>
          <a:solidFill>
            <a:srgbClr val="E8EDF3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95375" y="3629025"/>
            <a:ext cx="533400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L10 </a:t>
            </a: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证明托盘，</a:t>
            </a:r>
            <a:r>
              <a:rPr lang="en-US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L11 </a:t>
            </a: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证明机柜，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L12 </a:t>
            </a: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证明集群。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095375" y="4619625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三者不是逐级更严格，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而是回答三个不同的问题。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本章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P5–P9 ·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191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三级验收不是三道关，是三份互不替代的证明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0267950" y="4381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02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三级验收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85800" y="1314450"/>
            <a:ext cx="2247900" cy="4781550"/>
          </a:xfrm>
          <a:prstGeom prst="rect">
            <a:avLst/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57250" y="1485900"/>
            <a:ext cx="40957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>
                <a:solidFill>
                  <a:srgbClr val="C8A15A"/>
                </a:solidFill>
                <a:latin typeface="Georgia"/>
                <a:ea typeface="Georgia"/>
              </a:rPr>
              <a:t>L10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343025" y="1485900"/>
            <a:ext cx="4000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托盘级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57250" y="1933575"/>
            <a:ext cx="1905000" cy="9525"/>
          </a:xfrm>
          <a:prstGeom prst="rect">
            <a:avLst/>
          </a:prstGeom>
          <a:solidFill>
            <a:srgbClr val="E8EDF3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57250" y="20955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57250" y="2276475"/>
            <a:ext cx="190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E8EDF3"/>
                </a:solidFill>
                <a:latin typeface="Microsoft YaHei"/>
                <a:ea typeface="Microsoft YaHei"/>
              </a:rPr>
              <a:t>单托盘在出厂状态下功能完整、性能达标。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57250" y="2981325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测试域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57250" y="3162300"/>
            <a:ext cx="1905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上电时序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单卡压力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托盘内互连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BMC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固件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57250" y="38481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输出物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57250" y="4029075"/>
            <a:ext cx="19050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托盘验收报告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序列号绑定记录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857250" y="4714875"/>
            <a:ext cx="1905000" cy="1209675"/>
          </a:xfrm>
          <a:prstGeom prst="rect">
            <a:avLst/>
          </a:prstGeom>
          <a:solidFill>
            <a:srgbClr val="C8A15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971550" y="4829175"/>
            <a:ext cx="1676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C8A15A"/>
                </a:solidFill>
                <a:latin typeface="Microsoft YaHei"/>
                <a:ea typeface="Microsoft YaHei"/>
              </a:rPr>
              <a:t>不证明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71550" y="5019675"/>
            <a:ext cx="16764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卡匣是否就位、</a:t>
            </a:r>
            <a:r>
              <a:rPr lang="en-US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 xml:space="preserve">72 </a:t>
            </a: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卡</a:t>
            </a:r>
            <a:r>
              <a:rPr lang="en-US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 xml:space="preserve"> NVLink </a:t>
            </a: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域是否成立、机柜级液路是否连通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3067050" y="1314450"/>
            <a:ext cx="2247900" cy="4781550"/>
          </a:xfrm>
          <a:prstGeom prst="rect">
            <a:avLst/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238500" y="1485900"/>
            <a:ext cx="371475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>
                <a:solidFill>
                  <a:srgbClr val="C8A15A"/>
                </a:solidFill>
                <a:latin typeface="Georgia"/>
                <a:ea typeface="Georgia"/>
              </a:rPr>
              <a:t>L11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686175" y="1485900"/>
            <a:ext cx="4000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整机柜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3238500" y="1933575"/>
            <a:ext cx="1905000" cy="9525"/>
          </a:xfrm>
          <a:prstGeom prst="rect">
            <a:avLst/>
          </a:prstGeom>
          <a:solidFill>
            <a:srgbClr val="E8EDF3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238500" y="20955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238500" y="2276475"/>
            <a:ext cx="190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E8EDF3"/>
                </a:solidFill>
                <a:latin typeface="Microsoft YaHei"/>
                <a:ea typeface="Microsoft YaHei"/>
              </a:rPr>
              <a:t>托盘装进机柜后，互连与液路在装配态下成立。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238500" y="2981325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测试域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238500" y="3162300"/>
            <a:ext cx="1905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NCCL all-reduce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误码计数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保压与流量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母排压降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238500" y="38481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输出物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238500" y="4029075"/>
            <a:ext cx="1905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机柜验收记录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+ busbw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#wrong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原始数据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238500" y="4972050"/>
            <a:ext cx="1905000" cy="952500"/>
          </a:xfrm>
          <a:prstGeom prst="rect">
            <a:avLst/>
          </a:prstGeom>
          <a:solidFill>
            <a:srgbClr val="C8A15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352800" y="5086350"/>
            <a:ext cx="1676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C8A15A"/>
                </a:solidFill>
                <a:latin typeface="Microsoft YaHei"/>
                <a:ea typeface="Microsoft YaHei"/>
              </a:rPr>
              <a:t>不证明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352800" y="5276850"/>
            <a:ext cx="1676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跨柜传输、</a:t>
            </a:r>
            <a:r>
              <a:rPr lang="en-US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 xml:space="preserve">JCT </a:t>
            </a: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一致性、批次间的分布差异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5448300" y="1314450"/>
            <a:ext cx="2247900" cy="4781550"/>
          </a:xfrm>
          <a:prstGeom prst="rect">
            <a:avLst/>
          </a:prstGeom>
          <a:solidFill>
            <a:srgbClr val="1B2432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619750" y="1485900"/>
            <a:ext cx="400050" cy="3333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>
                <a:solidFill>
                  <a:srgbClr val="C8A15A"/>
                </a:solidFill>
                <a:latin typeface="Georgia"/>
                <a:ea typeface="Georgia"/>
              </a:rPr>
              <a:t>L12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096000" y="1485900"/>
            <a:ext cx="4000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集群级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619750" y="1933575"/>
            <a:ext cx="1905000" cy="9525"/>
          </a:xfrm>
          <a:prstGeom prst="rect">
            <a:avLst/>
          </a:prstGeom>
          <a:solidFill>
            <a:srgbClr val="E8EDF3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619750" y="20955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证明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619750" y="2276475"/>
            <a:ext cx="190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E8EDF3"/>
                </a:solidFill>
                <a:latin typeface="Microsoft YaHei"/>
                <a:ea typeface="Microsoft YaHei"/>
              </a:rPr>
              <a:t>多机柜协同下，作业能跑完且性能可复现。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619750" y="2981325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测试域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619750" y="3162300"/>
            <a:ext cx="1905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跨柜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NCCL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作业调度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故障注入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长稳运行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619750" y="3848100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输出物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619750" y="4029075"/>
            <a:ext cx="1905000" cy="2667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集群验收报告</a:t>
            </a:r>
            <a:r>
              <a:rPr lang="en-US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13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性能基线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5619750" y="4972050"/>
            <a:ext cx="1905000" cy="952500"/>
          </a:xfrm>
          <a:prstGeom prst="rect">
            <a:avLst/>
          </a:prstGeom>
          <a:solidFill>
            <a:srgbClr val="C8A15A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5734050" y="5086350"/>
            <a:ext cx="1676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C8A15A"/>
                </a:solidFill>
                <a:latin typeface="Microsoft YaHei"/>
                <a:ea typeface="Microsoft YaHei"/>
              </a:rPr>
              <a:t>不证明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734050" y="5276850"/>
            <a:ext cx="16764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长期可用性、现场环境适应、量产批次一致性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096250" y="1314450"/>
            <a:ext cx="3409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为什么每级都要写「不证明」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8096250" y="1562100"/>
            <a:ext cx="304800" cy="9525"/>
          </a:xfrm>
          <a:prstGeom prst="rect">
            <a:avLst/>
          </a:prstGeom>
          <a:solidFill>
            <a:srgbClr val="C8A15A">
              <a:alpha val="4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096250" y="1762125"/>
            <a:ext cx="34099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 b="1">
                <a:solidFill>
                  <a:srgbClr val="E8EDF3"/>
                </a:solidFill>
                <a:latin typeface="Microsoft YaHei"/>
                <a:ea typeface="Microsoft YaHei"/>
              </a:rPr>
              <a:t>缺一级，</a:t>
            </a:r>
            <a:endParaRPr/>
          </a:p>
          <a:p>
            <a:pPr>
              <a:lnSpc>
                <a:spcPct val="155000"/>
              </a:lnSpc>
            </a:pPr>
            <a:r>
              <a:rPr lang="zh-CN" sz="1575" b="1">
                <a:solidFill>
                  <a:srgbClr val="E8EDF3"/>
                </a:solidFill>
                <a:latin typeface="Microsoft YaHei"/>
                <a:ea typeface="Microsoft YaHei"/>
              </a:rPr>
              <a:t>就形成一个无法补偿的空洞。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096250" y="2705100"/>
            <a:ext cx="3409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每一级都明确声明自己「不证明」什么，这不是谦虚，是接口定义——它告诉下一级必须接手哪些风险。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096250" y="3476625"/>
            <a:ext cx="3409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如果</a:t>
            </a:r>
            <a:r>
              <a:rPr lang="en-US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 xml:space="preserve"> L11 </a:t>
            </a:r>
            <a:r>
              <a:rPr lang="zh-CN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跳过卡匣就位检查，</a:t>
            </a:r>
            <a:r>
              <a:rPr lang="en-US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 xml:space="preserve">L12 </a:t>
            </a:r>
            <a:r>
              <a:rPr lang="zh-CN" sz="1088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没有任何手段能把它补回来，只能等客户现场。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096250" y="5581650"/>
            <a:ext cx="3409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来源：</a:t>
            </a:r>
            <a:r>
              <a:rPr lang="en-US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OCP 2026</a:t>
            </a: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《</a:t>
            </a:r>
            <a:r>
              <a:rPr lang="en-US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From Tray to Training Job: L10–L12 Manufacturing Test</a:t>
            </a:r>
            <a:r>
              <a:rPr lang="zh-CN" sz="975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572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同一个缺陷，越晚被发现越贵——贵到不是一个量级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267950" y="4381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02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三级验收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缺陷逃逸成本倍数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85800" y="1638300"/>
            <a:ext cx="4457700" cy="1581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350" spc="-375">
                <a:solidFill>
                  <a:srgbClr val="C8A15A"/>
                </a:solidFill>
                <a:latin typeface="Georgia"/>
                <a:ea typeface="Georgia"/>
              </a:rPr>
              <a:t>200×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3390900"/>
            <a:ext cx="533400" cy="1905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85800" y="3581400"/>
            <a:ext cx="44577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>把</a:t>
            </a:r>
            <a:r>
              <a:rPr lang="en-US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 xml:space="preserve"> L10 </a:t>
            </a:r>
            <a:r>
              <a:rPr lang="zh-CN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>拦下一个缺陷的成本记为</a:t>
            </a:r>
            <a:r>
              <a:rPr lang="en-US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 xml:space="preserve"> 1×</a:t>
            </a:r>
            <a:r>
              <a:rPr lang="zh-CN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>；同一个缺陷逃到运行期才暴露，处理成本约为</a:t>
            </a:r>
            <a:r>
              <a:rPr lang="en-US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 xml:space="preserve"> 200×</a:t>
            </a:r>
            <a:r>
              <a:rPr lang="zh-CN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85800" y="4314825"/>
            <a:ext cx="4457700" cy="3238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63">
                <a:solidFill>
                  <a:srgbClr val="E8EDF3">
                    <a:alpha val="60000"/>
                  </a:srgbClr>
                </a:solidFill>
                <a:latin typeface="Microsoft YaHei"/>
                <a:ea typeface="Microsoft YaHei"/>
              </a:rPr>
              <a:t>乘数里不只有返修费，还有拆装工时、停机窗口与客户信任。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85800" y="4772025"/>
            <a:ext cx="445770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分析模型示意：量级用于横向比较，不作为数值依据。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676900" y="1552575"/>
            <a:ext cx="9906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L10 </a:t>
            </a:r>
            <a:r>
              <a:rPr lang="zh-CN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出厂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5676900" y="180975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托盘验收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724650" y="1619250"/>
            <a:ext cx="371475" cy="247650"/>
          </a:xfrm>
          <a:prstGeom prst="rect">
            <a:avLst/>
          </a:prstGeom>
          <a:solidFill>
            <a:srgbClr val="E8EDF3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248525" y="1600200"/>
            <a:ext cx="7239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E8EDF3">
                    <a:alpha val="55000"/>
                  </a:srgbClr>
                </a:solidFill>
                <a:latin typeface="Georgia"/>
                <a:ea typeface="Georgia"/>
              </a:rPr>
              <a:t>1×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676900" y="2286000"/>
            <a:ext cx="9906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 b="1">
                <a:solidFill>
                  <a:srgbClr val="C8A15A"/>
                </a:solidFill>
                <a:latin typeface="Microsoft YaHei"/>
                <a:ea typeface="Microsoft YaHei"/>
              </a:rPr>
              <a:t xml:space="preserve">L11 </a:t>
            </a:r>
            <a:r>
              <a:rPr lang="zh-CN" sz="1125" b="1">
                <a:solidFill>
                  <a:srgbClr val="C8A15A"/>
                </a:solidFill>
                <a:latin typeface="Microsoft YaHei"/>
                <a:ea typeface="Microsoft YaHei"/>
              </a:rPr>
              <a:t>机柜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676900" y="254317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整机柜验收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724650" y="2352675"/>
            <a:ext cx="685800" cy="2476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562850" y="2333625"/>
            <a:ext cx="7239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E8EDF3">
                    <a:alpha val="72000"/>
                  </a:srgbClr>
                </a:solidFill>
                <a:latin typeface="Georgia"/>
                <a:ea typeface="Georgia"/>
              </a:rPr>
              <a:t>4×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676900" y="3019425"/>
            <a:ext cx="9906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L12 </a:t>
            </a:r>
            <a:r>
              <a:rPr lang="zh-CN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集群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676900" y="327660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集群验收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724650" y="3086100"/>
            <a:ext cx="1238250" cy="247650"/>
          </a:xfrm>
          <a:prstGeom prst="rect">
            <a:avLst/>
          </a:prstGeom>
          <a:solidFill>
            <a:srgbClr val="E8EDF3">
              <a:alpha val="4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115300" y="3067050"/>
            <a:ext cx="7239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E8EDF3"/>
                </a:solidFill>
                <a:latin typeface="Georgia"/>
                <a:ea typeface="Georgia"/>
              </a:rPr>
              <a:t>15×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676900" y="3752850"/>
            <a:ext cx="9906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客户现场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676900" y="401002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上架部署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724650" y="3819525"/>
            <a:ext cx="2314575" cy="24765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191625" y="3800475"/>
            <a:ext cx="7239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C8A15A"/>
                </a:solidFill>
                <a:latin typeface="Georgia"/>
                <a:ea typeface="Georgia"/>
              </a:rPr>
              <a:t>60×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5676900" y="4486275"/>
            <a:ext cx="990600" cy="238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2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运行期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676900" y="474345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训练中断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724650" y="4552950"/>
            <a:ext cx="3810000" cy="2476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0668000" y="4533900"/>
            <a:ext cx="7239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C8A15A"/>
                </a:solidFill>
                <a:latin typeface="Georgia"/>
                <a:ea typeface="Georgia"/>
              </a:rPr>
              <a:t>200×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85800" y="5467350"/>
            <a:ext cx="10820400" cy="552450"/>
          </a:xfrm>
          <a:prstGeom prst="rect">
            <a:avLst/>
          </a:prstGeom>
          <a:solidFill>
            <a:srgbClr val="C8A15A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85800" y="5467350"/>
            <a:ext cx="28575" cy="5524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23925" y="5600700"/>
            <a:ext cx="102489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E8EDF3"/>
                </a:solidFill>
                <a:latin typeface="Microsoft YaHei"/>
                <a:ea typeface="Microsoft YaHei"/>
              </a:rPr>
              <a:t xml:space="preserve">L11 </a:t>
            </a:r>
            <a:r>
              <a:rPr lang="zh-CN" sz="1275">
                <a:solidFill>
                  <a:srgbClr val="E8EDF3"/>
                </a:solidFill>
                <a:latin typeface="Microsoft YaHei"/>
                <a:ea typeface="Microsoft YaHei"/>
              </a:rPr>
              <a:t>是线缆与液路缺陷的最后一道低成本拦截点——而这两类缺陷，恰好是「样机阶段不暴露」的那一类。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096625" y="64579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66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900 }}&gt;&lt;Text style={{ fontSize: 36, fontWeight: 'bold', lineHeight: 1.3, color: '#E8EDF3' }}&gt;覆盖率不是百分比，是四个分母&lt;/Text&gt;&lt;/Box&gt;&#13;&#10;    &lt;Box style={{ position: 'absolute', right: 72, top: 46 }}&gt;&lt;Text style={{ fontFamily: 'Georgia', fontSize: 14, letterSpacing: 2, color: 'rgba(232,237,243,0.45)' }}&gt;02 · 三级验收&lt;/Text&gt;&lt;/Box&gt;&#13;&#10;&#13;&#10;    &lt;Box style={{ position: 'absolute', left: 72, top: 140, width: 316, height: 452, flexDirection: 'column' }}&gt;&#13;&#10;        &lt;Text style={{ fontSize: 13, letterSpacing: 3, color: '#C8A15A' }}&gt;为什么必须分层&lt;/Text&gt;&#13;&#10;        &lt;Text style={{ fontSize: 32, fontWeight: 'bold', lineHeight: 1.35, color: '#E8EDF3', marginTop: 12 }}&gt;一个 85%，&lt;br /&gt;至少有两种读法。&lt;/Text&gt;&#13;&#10;        &lt;Box style={{ width: 48, height: 2, background: 'rgba(200,161,90,0.55)', marginTop: 20, marginBottom: 20 }} /&gt;&#13;&#10;        &lt;Text style={{ fontSize: 14.5, lineHeight: 1.85, color: 'rgba(232,237,243,0.55)' }}&gt;可以是「85% 的用例都通过」，也可以是「85% 的条目有对应用例」。两个 85% 的工程含义完全不同。&lt;/Text&gt;&#13;&#10;        &lt;Box style={{ width: 40, height: 1, background: 'rgba(232,237,243,0.14)', marginTop: 'auto', marginBottom: 16 }} /&gt;&#13;&#10;        &lt;Text style={{ fontSize: 15, lineHeight: 1.75, color: '#C8A15A' }}&gt;所以评审材料里应当出现四个数字，而不是一个。&lt;/Text&gt;&#13;&#10;    &lt;/Box&gt;&#13;&#10;&#13;&#10;    &lt;Box style={{ position: 'absolute', left: 440, top: 176, width: 151, height: 8, background: 'rgba(232,237,243,0.24)' }} /&gt;&#13;&#10;&lt;Box style={{ position: 'absolute', left: 594, top: 176, width: 189, height: 8, background: 'rgba(232,237,243,0.42)' }} /&gt;&#13;&#10;&lt;Box style={{ position: 'absolute', left: 786, top: 176, width: 189, height: 8, background: 'rgba(200,161,90,0.55)' }} /&gt;&#13;&#10;&lt;Box style={{ position: 'absolute', left: 978, top: 176, width: 227, height: 8, background: '#C8A15A' }} /&gt;&#13;&#10;&#13;&#10;    &lt;Box style={{ position: 'absolute', left: 440, top: 150, width: 768, flexDirection: 'row', justifyContent: 'space-between' }}&gt;&#13;&#10;        &lt;Text style={{ fontSize: 11, letterSpacing: 2, color: 'rgba(232,237,243,0.35)' }}&gt;四层权重分配&lt;/Text&gt;&#13;&#10;        &lt;Text style={{ fontSize: 11, letterSpacing: 1, color: 'rgba(232,237,243,0.35)' }}&gt;故障模式层权重最高，因为它最难伪造&lt;/Text&gt;&#13;&#10;    &lt;/Box&gt;&#13;&#10;&#13;&#10;    &lt;Box style={{ position: 'absolute', left: 440, top: 214, width: 78 }}&gt;&lt;Text style={{ fontFamily: 'Georgia', fontSize: 30, lineHeight: 1.2, color: '#C8A15A' }}&gt;20%&lt;/Text&gt;&lt;/Box&gt;&#13;&#10;&lt;Box style={{ position: 'absolute', left: 528, top: 218, width: 680, flexDirection: 'row', alignItems: 'baseline', gap: 12 }}&gt;&#13;&#10;        &lt;Text style={{ fontSize: 18, fontWeight: 'bold', lineHeight: 1.4, color: '#E8EDF3' }}&gt;需求覆盖&lt;/Text&gt;&#13;&#10;        &lt;Text style={{ fontSize: 13.5, lineHeight: 1.5, color: 'rgba(232,237,243,0.45)' }}&gt;分母：规格书里的验收条目数&lt;/Text&gt;&#13;&#10;    &lt;/Box&gt;&#13;&#10;&lt;Box style={{ position: 'absolute', left: 528, top: 252, width: 680, flexDirection: 'row', alignItems: 'flex-start', gap: 8 }}&gt;&#13;&#10;        &lt;Box style={{ background: 'rgba(200,161,90,0.16)', padding: 4, marginTop: 1 }}&gt;&lt;Text style={{ fontSize: 11, lineHeight: 1.2, color: '#C8A15A' }}&gt;陷阱&lt;/Text&gt;&lt;/Box&gt;&#13;&#10;        &lt;Text style={{ fontSize: 13.5, lineHeight: 1.6, color: 'rgba(232,237,243,0.52)', width: 620 }}&gt;只统计「有对应用例」的条目，不统计用例能否真的判定通过 / 失败。&lt;/Text&gt;&#13;&#10;    &lt;/Box&gt;&#13;&#10;&lt;Box style={{ position: 'absolute', left: 440, top: 294, width: 768, height: 1, background: 'rgba(232,237,243,0.07)' }} /&gt;&#13;&#10;&lt;Box style={{ position: 'absolute', left: 440, top: 302, width: 78 }}&gt;&lt;Text style={{ fontFamily: 'Georgia', fontSize: 30, lineHeight: 1.2, color: '#C8A15A' }}&gt;25%&lt;/Text&gt;&lt;/Box&gt;&#13;&#10;&lt;Box style={{ position: 'absolute', left: 528, top: 306, width: 680, flexDirection: 'row', alignItems: 'baseline', gap: 12 }}&gt;&#13;&#10;        &lt;Text style={{ fontSize: 18, fontWeight: 'bold', lineHeight: 1.4, color: '#E8EDF3' }}&gt;拓扑覆盖&lt;/Text&gt;&#13;&#10;        &lt;Text style={{ fontSize: 13.5, lineHeight: 1.5, color: 'rgba(232,237,243,0.45)' }}&gt;分母：拓扑上所有需被信号或液体经过的节点与链路&lt;/Text&gt;&#13;&#10;    &lt;/Box&gt;&#13;&#10;&lt;Box style={{ position: 'absolute', left: 528, top: 340, width: 680, flexDirection: 'row', alignItems: 'flex-start', gap: 8 }}&gt;&#13;&#10;        &lt;Box style={{ background: 'rgba(200,161,90,0.16)', padding: 4, marginTop: 1 }}&gt;&lt;Text style={{ fontSize: 11, lineHeight: 1.2, color: '#C8A15A' }}&gt;陷阱&lt;/Text&gt;&lt;/Box&gt;&#13;&#10;        &lt;Text style={{ fontSize: 13.5, lineHeight: 1.6, color: 'rgba(232,237,243,0.52)', width: 620 }}&gt;只测典型路径，把边角端口、备用链路默认算作已覆盖。&lt;/Text&gt;&#13;&#10;    &lt;/Box&gt;&#13;&#10;&lt;Box style={{ position: 'absolute', left: 440, top: 382, width: 768, height: 1, background: 'rgba(232,237,243,0.07)' }} /&gt;&#13;&#10;&lt;Box style={{ position: 'absolute', left: 440, top: 390, width: 78 }}&gt;&lt;Text style={{ fontFamily: 'Georgia', fontSize: 30, lineHeight: 1.2, color: '#C8A15A' }}&gt;25%&lt;/Text&gt;&lt;/Box&gt;&#13;&#10;&lt;Box style={{ position: 'absolute', left: 528, top: 394, width: 680, flexDirection: 'row', alignItems: 'baseline', gap: 12 }}&gt;&#13;&#10;        &lt;Text style={{ fontSize: 18, fontWeight: 'bold', lineHeight: 1.4, color: '#E8EDF3' }}&gt;工况覆盖&lt;/Text&gt;&#13;&#10;        &lt;Text style={{ fontSize: 13.5, lineHeight: 1.5, color: 'rgba(232,237,243,0.45)' }}&gt;分母：温度 / 负载 / 电压 / 流量构成的工况组合&lt;/Text&gt;&#13;&#10;    &lt;/Box&gt;&#13;&#10;&lt;Box style={{ position: 'absolute', left: 528, top: 428, width: 680, flexDirection: 'row', alignItems: 'flex-start', gap: 8 }}&gt;&#13;&#10;        &lt;Box style={{ background: 'rgba(200,161,90,0.16)', padding: 4, marginTop: 1 }}&gt;&lt;Text style={{ fontSize: 11, lineHeight: 1.2, color: '#C8A15A' }}&gt;陷阱&lt;/Text&gt;&lt;/Box&gt;&#13;&#10;        &lt;Text style={{ fontSize: 13.5, lineHeight: 1.6, color: 'rgba(232,237,243,0.52)', width: 620 }}&gt;只在稳态额定工况下测，用单点结论代表全域。&lt;/Text&gt;&#13;&#10;    &lt;/Box&gt;&#13;&#10;&lt;Box style={{ position: 'absolute', left: 440, top: 470, width: 768, height: 1, background: 'rgba(232,237,243,0.07)' }} /&gt;&#13;&#10;&lt;Box style={{ position: 'absolute', left: 440, top: 478, width: 78 }}&gt;&lt;Text style={{ fontFamily: 'Georgia', fontSize: 30, lineHeight: 1.2, color: '#C8A15A' }}&gt;30%&lt;/Text&gt;&lt;/Box&gt;&#13;&#10;&lt;Box style={{ position: 'absolute', left: 528, top: 482, width: 680, flexDirection: 'row', alignItems: 'baseline', gap: 12 }}&gt;&#13;&#10;        &lt;Text style={{ fontSize: 18, fontWeight: 'bold', lineHeight: 1.4, color: '#E8EDF3' }}&gt;故障模式覆盖&lt;/Text&gt;&#13;&#10;        &lt;Text style={{ fontSize: 13.5, lineHeight: 1.5, color: 'rgba(232,237,243,0.45)' }}&gt;分母：FMEA 中已被识别出的失效模式数&lt;/Text&gt;&#13;&#10;    &lt;/Box&gt;&#13;&#10;&lt;Box style={{ position: 'absolute', left: 528, top: 516, width: 680, flexDirection: 'row', alignItems: 'flex-start', gap: 8 }}&gt;&#13;&#10;        &lt;Box style={{ background: 'rgba(200,161,90,0.16)', padding: 4, marginTop: 1 }}&gt;&lt;Text style={{ fontSize: 11, lineHeight: 1.2, color: '#C8A15A' }}&gt;陷阱&lt;/Text&gt;&lt;/Box&gt;&#13;&#10;        &lt;Text style={{ fontSize: 13.5, lineHeight: 1.6, color: 'rgba(232,237,243,0.52)', width: 620 }}&gt;分母只写「已知会坏的」，未识别的失效模式根本不进分母。&lt;/Text&gt;&#13;&#10;    &lt;/Box&gt;&#13;&#10;&#13;&#10;    &lt;Box style={{ position: 'absolute', left: 440, top: 582, width: 768, height: 66, background: '#1B2432', flexDirection: 'column', justifyContent: 'center', padding: 16 }}&gt;&#13;&#10;        &lt;Text style={{ fontFamily: 'Georgia', fontSize: 13, letterSpacing: 1, lineHeight: 1.5, color: '#C8A15A' }}&gt;WCI = 0.20·需求 + 0.25·拓扑 + 0.25·工况 + 0.30·故障模式&lt;/Text&gt;&#13;&#10;        &lt;Text style={{ fontSize: 12, lineHeight: 1.5, color: 'rgba(232,237,243,0.45)', marginTop: 4 }}&gt;红线：任一层低于 50 分，直接判不通过——不允许用加权平均掩盖结构性缺失。&lt;/Text&gt;&#13;&#10;    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08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572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覆盖率不是百分比，是四个分母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0267950" y="4381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02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三级验收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1333500"/>
            <a:ext cx="300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为什么必须分层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3009900" cy="9906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E8EDF3"/>
                </a:solidFill>
                <a:latin typeface="Microsoft YaHei"/>
                <a:ea typeface="Microsoft YaHei"/>
              </a:rPr>
              <a:t>一个</a:t>
            </a:r>
            <a:r>
              <a:rPr lang="en-US" sz="2400" b="1">
                <a:solidFill>
                  <a:srgbClr val="E8EDF3"/>
                </a:solidFill>
                <a:latin typeface="Microsoft YaHei"/>
                <a:ea typeface="Microsoft YaHei"/>
              </a:rPr>
              <a:t xml:space="preserve"> 85%</a:t>
            </a:r>
            <a:r>
              <a:rPr lang="zh-CN" sz="2400" b="1">
                <a:solidFill>
                  <a:srgbClr val="E8EDF3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35000"/>
              </a:lnSpc>
            </a:pPr>
            <a:r>
              <a:rPr lang="zh-CN" sz="2400" b="1">
                <a:solidFill>
                  <a:srgbClr val="E8EDF3"/>
                </a:solidFill>
                <a:latin typeface="Microsoft YaHei"/>
                <a:ea typeface="Microsoft YaHei"/>
              </a:rPr>
              <a:t>至少有两种读法。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85800" y="2781300"/>
            <a:ext cx="457200" cy="1905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85800" y="2990850"/>
            <a:ext cx="30099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可以是「</a:t>
            </a:r>
            <a:r>
              <a:rPr lang="en-US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85% </a:t>
            </a:r>
            <a:r>
              <a:rPr lang="zh-CN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的用例都通过」，也可以是「</a:t>
            </a:r>
            <a:r>
              <a:rPr lang="en-US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85% </a:t>
            </a:r>
            <a:r>
              <a:rPr lang="zh-CN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的条目有对应用例」。两个</a:t>
            </a:r>
            <a:r>
              <a:rPr lang="en-US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85% </a:t>
            </a:r>
            <a:r>
              <a:rPr lang="zh-CN" sz="108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的工程含义完全不同。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85800" y="4876800"/>
            <a:ext cx="381000" cy="9525"/>
          </a:xfrm>
          <a:prstGeom prst="rect">
            <a:avLst/>
          </a:prstGeom>
          <a:solidFill>
            <a:srgbClr val="E8EDF3">
              <a:alpha val="14000"/>
            </a:srgbClr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85800" y="5038725"/>
            <a:ext cx="30099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C8A15A"/>
                </a:solidFill>
                <a:latin typeface="Microsoft YaHei"/>
                <a:ea typeface="Microsoft YaHei"/>
              </a:rPr>
              <a:t>所以评审材料里应当出现四个数字，而不是一个。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4191000" y="1676400"/>
            <a:ext cx="1438275" cy="76200"/>
          </a:xfrm>
          <a:prstGeom prst="rect">
            <a:avLst/>
          </a:prstGeom>
          <a:solidFill>
            <a:srgbClr val="E8EDF3">
              <a:alpha val="24000"/>
            </a:srgbClr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5657850" y="1676400"/>
            <a:ext cx="1800225" cy="7620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7486650" y="1676400"/>
            <a:ext cx="1800225" cy="7620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9315450" y="1676400"/>
            <a:ext cx="2162175" cy="762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4191000" y="142875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四层权重分配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9563100" y="1428750"/>
            <a:ext cx="1943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故障模式层权重最高，因为它最难伪造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191000" y="2038350"/>
            <a:ext cx="742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>
                <a:solidFill>
                  <a:srgbClr val="C8A15A"/>
                </a:solidFill>
                <a:latin typeface="Georgia"/>
                <a:ea typeface="Georgia"/>
              </a:rPr>
              <a:t>20%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5029200" y="2076450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E8EDF3"/>
                </a:solidFill>
                <a:latin typeface="Microsoft YaHei"/>
                <a:ea typeface="Microsoft YaHei"/>
              </a:rPr>
              <a:t>需求覆盖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5829300" y="2076450"/>
            <a:ext cx="1676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分母：规格书里的验收条目数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5029200" y="2409825"/>
            <a:ext cx="285750" cy="228600"/>
          </a:xfrm>
          <a:prstGeom prst="rect">
            <a:avLst/>
          </a:prstGeom>
          <a:solidFill>
            <a:srgbClr val="C8A15A">
              <a:alpha val="16000"/>
            </a:srgbClr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067300" y="244792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C8A15A"/>
                </a:solidFill>
                <a:latin typeface="Microsoft YaHei"/>
                <a:ea typeface="Microsoft YaHei"/>
              </a:rPr>
              <a:t>陷阱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5391150" y="240030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只统计「有对应用例」的条目，不统计用例能否真的判定通过</a:t>
            </a:r>
            <a:r>
              <a:rPr lang="en-US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失败。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4191000" y="2800350"/>
            <a:ext cx="73152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4191000" y="2876550"/>
            <a:ext cx="742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>
                <a:solidFill>
                  <a:srgbClr val="C8A15A"/>
                </a:solidFill>
                <a:latin typeface="Georgia"/>
                <a:ea typeface="Georgia"/>
              </a:rPr>
              <a:t>25%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029200" y="2914650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E8EDF3"/>
                </a:solidFill>
                <a:latin typeface="Microsoft YaHei"/>
                <a:ea typeface="Microsoft YaHei"/>
              </a:rPr>
              <a:t>拓扑覆盖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5829300" y="2914650"/>
            <a:ext cx="29622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分母：拓扑上所有需被信号或液体经过的节点与链路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5029200" y="3248025"/>
            <a:ext cx="285750" cy="228600"/>
          </a:xfrm>
          <a:prstGeom prst="rect">
            <a:avLst/>
          </a:prstGeom>
          <a:solidFill>
            <a:srgbClr val="C8A15A">
              <a:alpha val="16000"/>
            </a:srgbClr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5067300" y="328612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C8A15A"/>
                </a:solidFill>
                <a:latin typeface="Microsoft YaHei"/>
                <a:ea typeface="Microsoft YaHei"/>
              </a:rPr>
              <a:t>陷阱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391150" y="323850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只测典型路径，把边角端口、备用链路默认算作已覆盖。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4191000" y="3638550"/>
            <a:ext cx="73152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191000" y="3714750"/>
            <a:ext cx="742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>
                <a:solidFill>
                  <a:srgbClr val="C8A15A"/>
                </a:solidFill>
                <a:latin typeface="Georgia"/>
                <a:ea typeface="Georgia"/>
              </a:rPr>
              <a:t>25%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029200" y="3752850"/>
            <a:ext cx="6858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E8EDF3"/>
                </a:solidFill>
                <a:latin typeface="Microsoft YaHei"/>
                <a:ea typeface="Microsoft YaHei"/>
              </a:rPr>
              <a:t>工况覆盖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5829300" y="3752850"/>
            <a:ext cx="27146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分母：温度</a:t>
            </a:r>
            <a:r>
              <a:rPr lang="en-US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负载</a:t>
            </a:r>
            <a:r>
              <a:rPr lang="en-US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电压</a:t>
            </a:r>
            <a:r>
              <a:rPr lang="en-US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流量构成的工况组合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5029200" y="4086225"/>
            <a:ext cx="285750" cy="228600"/>
          </a:xfrm>
          <a:prstGeom prst="rect">
            <a:avLst/>
          </a:prstGeom>
          <a:solidFill>
            <a:srgbClr val="C8A15A">
              <a:alpha val="16000"/>
            </a:srgbClr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5067300" y="412432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C8A15A"/>
                </a:solidFill>
                <a:latin typeface="Microsoft YaHei"/>
                <a:ea typeface="Microsoft YaHei"/>
              </a:rPr>
              <a:t>陷阱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5391150" y="407670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只在稳态额定工况下测，用单点结论代表全域。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4191000" y="4476750"/>
            <a:ext cx="7315200" cy="9525"/>
          </a:xfrm>
          <a:prstGeom prst="rect">
            <a:avLst/>
          </a:prstGeom>
          <a:solidFill>
            <a:srgbClr val="E8EDF3">
              <a:alpha val="7000"/>
            </a:srgbClr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4191000" y="4552950"/>
            <a:ext cx="742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>
                <a:solidFill>
                  <a:srgbClr val="C8A15A"/>
                </a:solidFill>
                <a:latin typeface="Georgia"/>
                <a:ea typeface="Georgia"/>
              </a:rPr>
              <a:t>30%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029200" y="4591050"/>
            <a:ext cx="10287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E8EDF3"/>
                </a:solidFill>
                <a:latin typeface="Microsoft YaHei"/>
                <a:ea typeface="Microsoft YaHei"/>
              </a:rPr>
              <a:t>故障模式覆盖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172200" y="4591050"/>
            <a:ext cx="2324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分母：</a:t>
            </a:r>
            <a:r>
              <a:rPr lang="en-US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FMEA </a:t>
            </a:r>
            <a:r>
              <a:rPr lang="zh-CN" sz="1013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中已被识别出的失效模式数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5029200" y="4924425"/>
            <a:ext cx="285750" cy="228600"/>
          </a:xfrm>
          <a:prstGeom prst="rect">
            <a:avLst/>
          </a:prstGeom>
          <a:solidFill>
            <a:srgbClr val="C8A15A">
              <a:alpha val="16000"/>
            </a:srgbClr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067300" y="496252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825">
                <a:solidFill>
                  <a:srgbClr val="C8A15A"/>
                </a:solidFill>
                <a:latin typeface="Microsoft YaHei"/>
                <a:ea typeface="Microsoft YaHei"/>
              </a:rPr>
              <a:t>陷阱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5391150" y="4914900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分母只写「已知会坏的」，未识别的失效模式根本不进分母。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191000" y="5543550"/>
            <a:ext cx="7315200" cy="628650"/>
          </a:xfrm>
          <a:prstGeom prst="rect">
            <a:avLst/>
          </a:prstGeom>
          <a:solidFill>
            <a:srgbClr val="1B2432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343400" y="5619750"/>
            <a:ext cx="7010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 spc="75">
                <a:solidFill>
                  <a:srgbClr val="C8A15A"/>
                </a:solidFill>
                <a:latin typeface="Georgia"/>
                <a:ea typeface="Georgia"/>
              </a:rPr>
              <a:t>WCI = 0.20·</a:t>
            </a:r>
            <a:r>
              <a:rPr lang="zh-CN" sz="975" spc="75">
                <a:solidFill>
                  <a:srgbClr val="C8A15A"/>
                </a:solidFill>
                <a:latin typeface="Georgia"/>
                <a:ea typeface="Georgia"/>
              </a:rPr>
              <a:t>需求</a:t>
            </a:r>
            <a:r>
              <a:rPr lang="en-US" sz="975" spc="75">
                <a:solidFill>
                  <a:srgbClr val="C8A15A"/>
                </a:solidFill>
                <a:latin typeface="Georgia"/>
                <a:ea typeface="Georgia"/>
              </a:rPr>
              <a:t xml:space="preserve"> + 0.25·</a:t>
            </a:r>
            <a:r>
              <a:rPr lang="zh-CN" sz="975" spc="75">
                <a:solidFill>
                  <a:srgbClr val="C8A15A"/>
                </a:solidFill>
                <a:latin typeface="Georgia"/>
                <a:ea typeface="Georgia"/>
              </a:rPr>
              <a:t>拓扑</a:t>
            </a:r>
            <a:r>
              <a:rPr lang="en-US" sz="975" spc="75">
                <a:solidFill>
                  <a:srgbClr val="C8A15A"/>
                </a:solidFill>
                <a:latin typeface="Georgia"/>
                <a:ea typeface="Georgia"/>
              </a:rPr>
              <a:t xml:space="preserve"> + 0.25·</a:t>
            </a:r>
            <a:r>
              <a:rPr lang="zh-CN" sz="975" spc="75">
                <a:solidFill>
                  <a:srgbClr val="C8A15A"/>
                </a:solidFill>
                <a:latin typeface="Georgia"/>
                <a:ea typeface="Georgia"/>
              </a:rPr>
              <a:t>工况</a:t>
            </a:r>
            <a:r>
              <a:rPr lang="en-US" sz="975" spc="75">
                <a:solidFill>
                  <a:srgbClr val="C8A15A"/>
                </a:solidFill>
                <a:latin typeface="Georgia"/>
                <a:ea typeface="Georgia"/>
              </a:rPr>
              <a:t xml:space="preserve"> + 0.30·</a:t>
            </a:r>
            <a:r>
              <a:rPr lang="zh-CN" sz="975" spc="75">
                <a:solidFill>
                  <a:srgbClr val="C8A15A"/>
                </a:solidFill>
                <a:latin typeface="Georgia"/>
                <a:ea typeface="Georgia"/>
              </a:rPr>
              <a:t>故障模式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4343400" y="5886450"/>
            <a:ext cx="70104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红线：任一层低于</a:t>
            </a:r>
            <a:r>
              <a:rPr lang="en-US" sz="90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90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分，直接判不通过——不允许用加权平均掩盖结构性缺失。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077575" y="64579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616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900 }}&gt;&lt;Text style={{ fontSize: 36, fontWeight: 'bold', lineHeight: 1.3, color: '#E8EDF3' }}&gt;覆盖到什么程度就够了：一条成本交叉曲线&lt;/Text&gt;&lt;/Box&gt;&#13;&#10;    &lt;Box style={{ position: 'absolute', right: 72, top: 46 }}&gt;&lt;Text style={{ fontFamily: 'Georgia', fontSize: 14, letterSpacing: 2, color: 'rgba(232,237,243,0.45)' }}&gt;02 · 三级验收&lt;/Text&gt;&lt;/Box&gt;&#13;&#10;&#13;&#10;    &lt;Box style={{ position: 'absolute', left: 72, top: 132, width: 700, height: 404 }}&gt;&#13;&#10;        &lt;Chart&#13;&#10;            style={{ width: 700, height: 404 }}&#13;&#10;            chartType='lineChart'&#13;&#10;            grouping='standard'&#13;&#10;            showLegend={true}&#13;&#10;            showDataLabels={false}&#13;&#10;            legendColor='#8A99AC'&#13;&#10;            axisColor='#8A99AC'&#13;&#10;            colors={['#C8A15A', '#7C8B9E']}&#13;&#10;            background='#0E1420'&#13;&#10;            data={[&#13;&#10;                ['覆盖率 %', '逃逸成本', '验证成本'],&#13;&#10;                [40, 100, 2],&#13;&#10;                [50, 64, 3],&#13;&#10;                [60, 41, 5],&#13;&#10;                [70, 26, 9],&#13;&#10;                [80, 16, 15],&#13;&#10;                [90, 10, 26],&#13;&#10;                [100, 7, 45],&#13;&#10;            ]}&#13;&#10;        /&gt;&#13;&#10;    &lt;/Box&gt;&#13;&#10;&#13;&#10;    &lt;Box style={{ position: 'absolute', left: 72, top: 552, width: 700, flexDirection: 'row', alignItems: 'center', gap: 10 }}&gt;&#13;&#10;        &lt;Box style={{ width: 18, height: 1, background: 'rgba(200,161,90,0.6)' }} /&gt;&#13;&#10;        &lt;Text style={{ fontSize: 12.5, lineHeight: 1.6, color: 'rgba(232,237,243,0.35)' }}&gt;横轴覆盖率；纵轴相对成本指数。两条曲线均为分析模型示意，非实测数据。&lt;/Text&gt;&#13;&#10;    &lt;/Box&gt;&#13;&#10;&#13;&#10;    &lt;Box style={{ position: 'absolute', left: 806, top: 138, width: 402, height: 492, flexDirection: 'column' }}&gt;&#13;&#10;        &lt;Text style={{ fontSize: 13, letterSpacing: 3, color: '#C8A15A' }}&gt;判断&lt;/Text&gt;&#13;&#10;        &lt;Box style={{ width: 32, height: 1, background: 'rgba(200,161,90,0.45)', marginTop: 10, marginBottom: 20 }} /&gt;&#13;&#10;        &lt;Text style={{ fontSize: 26, fontWeight: 'bold', lineHeight: 1.5, color: '#E8EDF3' }}&gt;不必追 100%，&lt;br /&gt;但要主动抬高目标。&lt;/Text&gt;&#13;&#10;&#13;&#10;        &lt;Box style={{ flexDirection: 'row', alignItems: 'flex-start', gap: 12, marginTop: 26 }}&gt;&#13;&#10;            &lt;Text style={{ fontFamily: 'Georgia', fontSize: 13, lineHeight: 1.7, color: 'rgba(200,161,90,0.75)', width: 16 }}&gt;01&lt;/Text&gt;&#13;&#10;            &lt;Text style={{ fontSize: 14, lineHeight: 1.8, color: 'rgba(232,237,243,0.55)', width: 348 }}&gt;交叉点约在 81%。再往上加覆盖，验证成本涨得比逃逸损失降得快。&lt;/Text&gt;&#13;&#10;        &lt;/Box&gt;&#13;&#10;        &lt;Box style={{ flexDirection: 'row', alignItems: 'flex-start', gap: 12, marginTop: 16 }}&gt;&#13;&#10;            &lt;Text style={{ fontFamily: 'Georgia', fontSize: 13, lineHeight: 1.7, color: 'rgba(200,161,90,0.75)', width: 16 }}&gt;02&lt;/Text&gt;&#13;&#10;            &lt;Text style={{ fontSize: 14, lineHeight: 1.8, color: 'rgba(232,237,243,0.55)', width: 348 }}&gt;这个点会移动。量产爬坡期缺陷率上升，整条逃逸曲线右移，交叉点随之抬高。&lt;/Text&gt;&#13;&#10;        &lt;/Box&gt;&#13;&#10;        &lt;Box style={{ flexDirection: 'row', alignItems: 'flex-start', gap: 12, marginTop: 16 }}&gt;&#13;&#10;            &lt;Text style={{ fontFamily: 'Georgia', fontSize: 13, lineHeight: 1.7, color: 'rgba(200,161,90,0.75)', width: 16 }}&gt;03&lt;/Text&gt;&#13;&#10;            &lt;Text style={{ fontSize: 14, lineHeight: 1.8, color: 'rgba(232,237,243,0.55)', width: 348 }}&gt;覆盖目标是随阶段变化的变量，不是一次谈定的常数。&lt;/Text&gt;&#13;&#10;        &lt;/Box&gt;&#13;&#10;&#13;&#10;        &lt;Box style={{ background: 'rgba(200,161,90,0.09)', flexDirection: 'column', padding: 14, marginTop: 'auto' }}&gt;&#13;&#10;            &lt;Text style={{ fontSize: 11, letterSpacing: 2, color: '#C8A15A' }}&gt;对评审的含义&lt;/Text&gt;&#13;&#10;            &lt;Text style={{ fontSize: 13.5, lineHeight: 1.75, color: 'rgba(232,237,243,0.72)', marginTop: 6 }}&gt;要求团队报出「当前阶段的目标覆盖率」及其依据，而不是一个不带阶段的完成度。&lt;/Text&gt;&#13;&#10;        &lt;/Box&gt;&#13;&#10;    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09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572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覆盖到什么程度就够了：一条成本交叉曲线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0267950" y="4381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02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三级验收</a:t>
            </a:r>
            <a:endParaRPr/>
          </a:p>
        </p:txBody>
      </p:sp>
      <p:graphicFrame>
        <p:nvGraphicFramePr>
          <p:cNvPr id="621" name="621"/>
          <p:cNvGraphicFramePr/>
          <p:nvPr/>
        </p:nvGraphicFramePr>
        <p:xfrm rot="0" flipH="0" flipV="0">
          <a:off x="685800" y="1257300"/>
          <a:ext cx="6667500" cy="38481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622" name=""/>
          <p:cNvSpPr/>
          <p:nvPr/>
        </p:nvSpPr>
        <p:spPr>
          <a:xfrm rot="0" flipH="0" flipV="0">
            <a:off x="685800" y="5372100"/>
            <a:ext cx="171450" cy="9525"/>
          </a:xfrm>
          <a:prstGeom prst="rect">
            <a:avLst/>
          </a:prstGeom>
          <a:solidFill>
            <a:srgbClr val="C8A15A">
              <a:alpha val="60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52500" y="5257800"/>
            <a:ext cx="40481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横轴覆盖率；纵轴相对成本指数。两条曲线均为分析模型示意，非实测数据。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677150" y="1314450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7677150" y="1562100"/>
            <a:ext cx="304800" cy="9525"/>
          </a:xfrm>
          <a:prstGeom prst="rect">
            <a:avLst/>
          </a:prstGeom>
          <a:solidFill>
            <a:srgbClr val="C8A15A">
              <a:alpha val="45000"/>
            </a:srgbClr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677150" y="1762125"/>
            <a:ext cx="382905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DF3"/>
                </a:solidFill>
                <a:latin typeface="Microsoft YaHei"/>
                <a:ea typeface="Microsoft YaHei"/>
              </a:rPr>
              <a:t>不必追</a:t>
            </a:r>
            <a:r>
              <a:rPr lang="en-US" sz="1950" b="1">
                <a:solidFill>
                  <a:srgbClr val="E8EDF3"/>
                </a:solidFill>
                <a:latin typeface="Microsoft YaHei"/>
                <a:ea typeface="Microsoft YaHei"/>
              </a:rPr>
              <a:t xml:space="preserve"> 100%</a:t>
            </a:r>
            <a:r>
              <a:rPr lang="zh-CN" sz="1950" b="1">
                <a:solidFill>
                  <a:srgbClr val="E8EDF3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DF3"/>
                </a:solidFill>
                <a:latin typeface="Microsoft YaHei"/>
                <a:ea typeface="Microsoft YaHei"/>
              </a:rPr>
              <a:t>但要主动抬高目标。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677150" y="2905125"/>
            <a:ext cx="1524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943850" y="2905125"/>
            <a:ext cx="33147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交叉点约在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81%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。再往上加覆盖，验证成本涨得比逃逸损失降得快。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677150" y="3638550"/>
            <a:ext cx="1524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943850" y="3638550"/>
            <a:ext cx="33147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这个点会移动。量产爬坡期缺陷率上升，整条逃逸曲线右移，交叉点随之抬高。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677150" y="4371975"/>
            <a:ext cx="15240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C8A15A">
                    <a:alpha val="75000"/>
                  </a:srgbClr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943850" y="4371975"/>
            <a:ext cx="3314700" cy="295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覆盖目标是随阶段变化的变量，不是一次谈定的常数。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7677150" y="5000625"/>
            <a:ext cx="3829050" cy="1000125"/>
          </a:xfrm>
          <a:prstGeom prst="rect">
            <a:avLst/>
          </a:prstGeom>
          <a:solidFill>
            <a:srgbClr val="C8A15A">
              <a:alpha val="9000"/>
            </a:srgbClr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810500" y="5133975"/>
            <a:ext cx="3562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50">
                <a:solidFill>
                  <a:srgbClr val="C8A15A"/>
                </a:solidFill>
                <a:latin typeface="Microsoft YaHei"/>
                <a:ea typeface="Microsoft YaHei"/>
              </a:rPr>
              <a:t>对评审的含义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810500" y="5324475"/>
            <a:ext cx="356235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要求团队报出「当前阶段的目标覆盖率」及其依据，而不是一个不带阶段的完成度。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1087100" y="645795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style={{ width: 1280, height: 720, background: '#0E1420', position: 'relative', overflow: 'hidden' }}&gt;&#13;&#10;&#13;&#10;    &lt;Box style={{ position: 'absolute', right: 56, top: 200, flexDirection: 'column', alignItems: 'flex-end' }}&gt;&#13;&#10;        &lt;Text style={{ fontFamily: 'Georgia', fontSize: 300, lineHeight: 1.0, letterSpacing: -8, color: 'rgba(232,237,243,0.05)' }}&gt;03&lt;/Text&gt;&#13;&#10;    &lt;/Box&gt;&#13;&#10;&#13;&#10;    &lt;Box style={{ position: 'absolute', left: 72, top: 206, flexDirection: 'row', gap: 40 }}&gt;&#13;&#10;&#13;&#10;        &lt;Box style={{ width: 3, background: '#C8A15A' }} /&gt;&#13;&#10;&#13;&#10;        &lt;Box style={{ width: 560, flexDirection: 'column' }}&gt;&#13;&#10;            &lt;Text style={{ fontFamily: 'Georgia', fontSize: 16, letterSpacing: 5, color: '#C8A15A' }}&gt;CHAPTER 03&lt;/Text&gt;&#13;&#10;            &lt;Text style={{ fontSize: 52, fontWeight: 'bold', lineHeight: 1.25, color: '#E8EDF3', marginTop: 26 }}&gt;两个物理面&lt;/Text&gt;&#13;&#10;            &lt;Box style={{ width: 64, height: 1, background: 'rgba(232,237,243,0.22)', marginTop: 24, marginBottom: 26 }} /&gt;&#13;&#10;            &lt;Text style={{ fontSize: 22, lineHeight: 1.7, color: 'rgba(232,237,243,0.62)' }}&gt;线缆与液路。&lt;/Text&gt;&#13;&#10;            &lt;Text style={{ fontSize: 18, lineHeight: 1.85, color: 'rgba(232,237,243,0.45)', marginTop: 14 }}&gt;原文单独点名这两类，&lt;br /&gt;因为它们是样机阶段最不暴露、&lt;br /&gt;量产阶段最高频的两类失效。&lt;/Text&gt;&#13;&#10;        &lt;/Box&gt;&#13;&#10;&#13;&#10;    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本章 P10–P12 · 共 3 页&lt;/Text&gt;&lt;/Box&gt;&#13;&#10;    &lt;Box style={{ position: 'absolute', right: 72, top: 678 }}&gt;&lt;Text style={{ fontFamily: 'Georgia', fontSize: 14, color: 'rgba(232,237,243,0.45)' }}&gt;10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477250" y="1905000"/>
            <a:ext cx="31813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spc="-600">
                <a:solidFill>
                  <a:srgbClr val="E8EDF3">
                    <a:alpha val="5000"/>
                  </a:srgbClr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85800" y="1962150"/>
            <a:ext cx="28575" cy="33718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095375" y="19621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75">
                <a:solidFill>
                  <a:srgbClr val="C8A15A"/>
                </a:solidFill>
                <a:latin typeface="Georgia"/>
                <a:ea typeface="Georgia"/>
              </a:rPr>
              <a:t>CHAPTER 03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95375" y="2400300"/>
            <a:ext cx="5334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E8EDF3"/>
                </a:solidFill>
                <a:latin typeface="Microsoft YaHei"/>
                <a:ea typeface="Microsoft YaHei"/>
              </a:rPr>
              <a:t>两个物理面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095375" y="3371850"/>
            <a:ext cx="609600" cy="9525"/>
          </a:xfrm>
          <a:prstGeom prst="rect">
            <a:avLst/>
          </a:prstGeom>
          <a:solidFill>
            <a:srgbClr val="E8EDF3">
              <a:alpha val="22000"/>
            </a:srgbClr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95375" y="3629025"/>
            <a:ext cx="5334000" cy="4286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线缆与液路。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095375" y="4191000"/>
            <a:ext cx="533400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原文单独点名这两类，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因为它们是样机阶段最不暴露、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量产阶段最高频的两类失效。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本章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P10–P12 ·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106150" y="64579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820 }}&gt;&lt;Text style={{ fontSize: 36, fontWeight: 'bold', lineHeight: 1.3, color: '#E8EDF3' }}&gt;来料检验和 TDR，救不了装配态&lt;/Text&gt;&lt;/Box&gt;&#13;&#10;    &lt;Box style={{ position: 'absolute', right: 72, top: 46 }}&gt;&lt;Text style={{ fontFamily: 'Georgia', fontSize: 14, letterSpacing: 2, color: 'rgba(232,237,243,0.45)' }}&gt;03 · 两个物理面&lt;/Text&gt;&lt;/Box&gt;&#13;&#10;&#13;&#10;    &lt;Box style={{ position: 'absolute', left: 223, top: 162, width: 104, alignItems: 'center' }}&gt;&lt;Text style={{ fontSize: 13, letterSpacing: 0.5, color: 'rgba(232,237,243,0.32)' }}&gt;来料 IQC&lt;/Text&gt;&lt;/Box&gt;&#13;&#10;    &lt;Box style={{ position: 'absolute', left: 330, top: 162, width: 104, alignItems: 'center' }}&gt;&lt;Text style={{ fontSize: 13, letterSpacing: 0.5, color: 'rgba(232,237,243,0.32)' }}&gt;组件 TDR&lt;/Text&gt;&lt;/Box&gt;&#13;&#10;    &lt;Box style={{ position: 'absolute', left: 437, top: 162, width: 104, alignItems: 'center' }}&gt;&lt;Text style={{ fontSize: 13, letterSpacing: 0.5, color: 'rgba(232,237,243,0.62)' }}&gt;互锁信号&lt;/Text&gt;&lt;/Box&gt;&#13;&#10;    &lt;Box style={{ position: 'absolute', left: 544, top: 162, width: 104, alignItems: 'center' }}&gt;&lt;Text style={{ fontSize: 13, letterSpacing: 0.5, color: 'rgba(232,237,243,0.62)' }}&gt;误码计数&lt;/Text&gt;&lt;/Box&gt;&#13;&#10;    &lt;Box style={{ position: 'absolute', left: 651, top: 162, width: 104, alignItems: 'center' }}&gt;&lt;Text style={{ fontSize: 13, letterSpacing: 0.5, color: 'rgba(232,237,243,0.62)' }}&gt;NCCL 校验&lt;/Text&gt;&lt;/Box&gt;&#13;&#10;    &lt;Box style={{ position: 'absolute', left: 758, top: 162, width: 104, alignItems: 'center' }}&gt;&lt;Text style={{ fontSize: 13, letterSpacing: 0.5, color: 'rgba(232,237,243,0.62)' }}&gt;现场巡检&lt;/Text&gt;&lt;/Box&gt;&#13;&#10;    &lt;Box style={{ position: 'absolute', left: 72, top: 188, width: 792, height: 1, background: 'rgba(232,237,243,0.10)' }} /&gt;&#13;&#10;    &lt;Box style={{ position: 'absolute', left: 72, top: 208, width: 150, flexDirection: 'row' }}&gt;&lt;Text style={{ fontSize: 14, lineHeight: 1.4, color: '#E8EDF3' }}&gt;未就位 / 未插到位&lt;/Text&gt;&lt;/Box&gt;&#13;&#10;    &lt;Box style={{ position: 'absolute', left: 379, top: 219, width: 6, height: 6, borderRadius: 3, background: 'rgba(232,237,243,0.20)' }} /&gt;&#13;&#10;    &lt;Box style={{ position: 'absolute', left: 482, top: 215, width: 14, height: 14, borderRadius: 7, background: '#E8EDF3' }} /&gt;&#13;&#10;    &lt;Box style={{ position: 'absolute', left: 589, top: 215, width: 14, height: 14, borderRadius: 7, background: 'rgba(232,237,243,0.30)' }} /&gt;&lt;Box style={{ position: 'absolute', left: 592, top: 218, width: 8, height: 8, borderRadius: 4, background: '#0E1420' }} /&gt;&#13;&#10;    &lt;Box style={{ position: 'absolute', left: 696, top: 215, width: 14, height: 14, borderRadius: 7, background: '#E8EDF3' }} /&gt;&#13;&#10;    &lt;Box style={{ position: 'absolute', left: 803, top: 215, width: 14, height: 14, borderRadius: 7, background: 'rgba(232,237,243,0.30)' }} /&gt;&lt;Box style={{ position: 'absolute', left: 806, top: 218, width: 8, height: 8, borderRadius: 4, background: '#0E1420' }} /&gt;&#13;&#10;    &lt;Box style={{ position: 'absolute', left: 72, top: 250, width: 792, height: 1, background: 'rgba(232,237,243,0.06)' }} /&gt;&#13;&#10;    &lt;Box style={{ position: 'absolute', left: 72, top: 264, width: 150, flexDirection: 'row' }}&gt;&lt;Text style={{ fontSize: 14, lineHeight: 1.4, color: '#E8EDF3' }}&gt;错插 / 插错端口&lt;/Text&gt;&lt;/Box&gt;&#13;&#10;    &lt;Box style={{ position: 'absolute', left: 379, top: 275, width: 6, height: 6, borderRadius: 3, background: 'rgba(232,237,243,0.20)' }} /&gt;&#13;&#10;    &lt;Box style={{ position: 'absolute', left: 482, top: 271, width: 14, height: 14, borderRadius: 7, background: 'rgba(232,237,243,0.30)' }} /&gt;&lt;Box style={{ position: 'absolute', left: 485, top: 274, width: 8, height: 8, borderRadius: 4, background: '#0E1420' }} /&gt;&#13;&#10;    &lt;Box style={{ position: 'absolute', left: 589, top: 271, width: 14, height: 14, borderRadius: 7, background: 'rgba(232,237,243,0.30)' }} /&gt;&lt;Box style={{ position: 'absolute', left: 592, top: 274, width: 8, height: 8, borderRadius: 4, background: '#0E1420' }} /&gt;&#13;&#10;    &lt;Box style={{ position: 'absolute', left: 696, top: 271, width: 14, height: 14, borderRadius: 7, background: '#E8EDF3' }} /&gt;&#13;&#10;    &lt;Box style={{ position: 'absolute', left: 807, top: 275, width: 6, height: 6, borderRadius: 3, background: 'rgba(232,237,243,0.20)' }} /&gt;&#13;&#10;    &lt;Box style={{ position: 'absolute', left: 72, top: 306, width: 792, height: 1, background: 'rgba(232,237,243,0.06)' }} /&gt;&#13;&#10;    &lt;Box style={{ position: 'absolute', left: 72, top: 320, width: 150, flexDirection: 'row' }}&gt;&lt;Text style={{ fontSize: 14, lineHeight: 1.4, color: '#E8EDF3' }}&gt;漏插&lt;/Text&gt;&lt;/Box&gt;&#13;&#10;    &lt;Box style={{ position: 'absolute', left: 482, top: 327, width: 14, height: 14, borderRadius: 7, background: '#E8EDF3' }} /&gt;&#13;&#10;    &lt;Box style={{ position: 'absolute', left: 589, top: 327, width: 14, height: 14, borderRadius: 7, background: 'rgba(232,237,243,0.30)' }} /&gt;&lt;Box style={{ position: 'absolute', left: 592, top: 330, width: 8, height: 8, borderRadius: 4, background: '#0E1420' }} /&gt;&#13;&#10;    &lt;Box style={{ position: 'absolute', left: 696, top: 327, width: 14, height: 14, borderRadius: 7, background: '#E8EDF3' }} /&gt;&#13;&#10;    &lt;Box style={{ position: 'absolute', left: 803, top: 327, width: 14, height: 14, borderRadius: 7, background: 'rgba(232,237,243,0.30)' }} /&gt;&lt;Box style={{ position: 'absolute', left: 806, top: 330, width: 8, height: 8, borderRadius: 4, background: '#0E1420' }} /&gt;&#13;&#10;    &lt;Box style={{ position: 'absolute', left: 72, top: 362, width: 792, height: 1, background: 'rgba(232,237,243,0.06)' }} /&gt;&#13;&#10;    &lt;Box style={{ position: 'absolute', left: 72, top: 376, width: 150, flexDirection: 'row' }}&gt;&lt;Text style={{ fontSize: 14, lineHeight: 1.4, color: 'rgba(232,237,243,0.55)' }}&gt;端子压接不良&lt;/Text&gt;&lt;/Box&gt;&#13;&#10;    &lt;Box style={{ position: 'absolute', left: 268, top: 383, width: 14, height: 14, borderRadius: 7, background: 'rgba(232,237,243,0.30)' }} /&gt;&lt;Box style={{ position: 'absolute', left: 271, top: 386, width: 8, height: 8, borderRadius: 4, background: '#0E1420' }} /&gt;&#13;&#10;    &lt;Box style={{ position: 'absolute', left: 375, top: 383, width: 14, height: 14, borderRadius: 7, background: '#E8EDF3' }} /&gt;&#13;&#10;    &lt;Box style={{ position: 'absolute', left: 589, top: 383, width: 14, height: 14, borderRadius: 7, background: '#E8EDF3' }} /&gt;&#13;&#10;    &lt;Box style={{ position: 'absolute', left: 696, top: 383, width: 14, height: 14, borderRadius: 7, background: 'rgba(232,237,243,0.30)' }} /&gt;&lt;Box style={{ position: 'absolute', left: 699, top: 386, width: 8, height: 8, borderRadius: 4, background: '#0E1420' }} /&gt;&#13;&#10;    &lt;Box style={{ position: 'absolute', left: 72, top: 418, width: 792, height: 1, background: 'rgba(232,237,243,0.06)' }} /&gt;&#13;&#10;    &lt;Box style={{ position: 'absolute', left: 72, top: 432, width: 150, flexDirection: 'row' }}&gt;&lt;Text style={{ fontSize: 14, lineHeight: 1.4, color: 'rgba(232,237,243,0.55)' }}&gt;线序错误&lt;/Text&gt;&lt;/Box&gt;&#13;&#10;    &lt;Box style={{ position: 'absolute', left: 272, top: 443, width: 6, height: 6, borderRadius: 3, background: 'rgba(232,237,243,0.20)' }} /&gt;&#13;&#10;    &lt;Box style={{ position: 'absolute', left: 375, top: 439, width: 14, height: 14, borderRadius: 7, background: '#E8EDF3' }} /&gt;&#13;&#10;    &lt;Box style={{ position: 'absolute', left: 589, top: 439, width: 14, height: 14, borderRadius: 7, background: '#E8EDF3' }} /&gt;&#13;&#10;    &lt;Box style={{ position: 'absolute', left: 696, top: 439, width: 14, height: 14, borderRadius: 7, background: '#E8EDF3' }} /&gt;&#13;&#10;    &lt;Box style={{ position: 'absolute', left: 72, top: 474, width: 792, height: 1, background: 'rgba(232,237,243,0.06)' }} /&gt;&#13;&#10;    &lt;Box style={{ position: 'absolute', left: 72, top: 488, width: 150, flexDirection: 'row' }}&gt;&lt;Text style={{ fontSize: 14, lineHeight: 1.4, color: 'rgba(232,237,243,0.55)' }}&gt;弯折 / 应力损伤&lt;/Text&gt;&lt;/Box&gt;&#13;&#10;    &lt;Box style={{ position: 'absolute', left: 268, top: 495, width: 14, height: 14, borderRadius: 7, background: 'rgba(232,237,243,0.30)' }} /&gt;&lt;Box style={{ position: 'absolute', left: 271, top: 498, width: 8, height: 8, borderRadius: 4, background: '#0E1420' }} /&gt;&#13;&#10;    &lt;Box style={{ position: 'absolute', left: 375, top: 495, width: 14, height: 14, borderRadius: 7, background: 'rgba(232,237,243,0.30)' }} /&gt;&lt;Box style={{ position: 'absolute', left: 378, top: 498, width: 8, height: 8, borderRadius: 4, background: '#0E1420' }} /&gt;&#13;&#10;    &lt;Box style={{ position: 'absolute', left: 589, top: 495, width: 14, height: 14, borderRadius: 7, background: 'rgba(232,237,243,0.30)' }} /&gt;&lt;Box style={{ position: 'absolute', left: 592, top: 498, width: 8, height: 8, borderRadius: 4, background: '#0E1420' }} /&gt;&#13;&#10;    &lt;Box style={{ position: 'absolute', left: 700, top: 499, width: 6, height: 6, borderRadius: 3, background: 'rgba(232,237,243,0.20)' }} /&gt;&#13;&#10;    &lt;Box style={{ position: 'absolute', left: 803, top: 495, width: 14, height: 14, borderRadius: 7, background: 'rgba(232,237,243,0.30)' }} /&gt;&lt;Box style={{ position: 'absolute', left: 806, top: 498, width: 8, height: 8, borderRadius: 4, background: '#0E1420' }} /&gt;&#13;&#10;    &lt;Box style={{ position: 'absolute', left: 72, top: 530, width: 792, height: 1, background: 'rgba(232,237,243,0.06)' }} /&gt;&#13;&#10;    &lt;Box style={{ position: 'absolute', left: 72, top: 544, width: 150, flexDirection: 'row' }}&gt;&lt;Text style={{ fontSize: 14, lineHeight: 1.4, color: 'rgba(232,237,243,0.55)' }}&gt;屏蔽 / 接地不良&lt;/Text&gt;&lt;/Box&gt;&#13;&#10;    &lt;Box style={{ position: 'absolute', left: 272, top: 555, width: 6, height: 6, borderRadius: 3, background: 'rgba(232,237,243,0.20)' }} /&gt;&#13;&#10;    &lt;Box style={{ position: 'absolute', left: 379, top: 555, width: 6, height: 6, borderRadius: 3, background: 'rgba(232,237,243,0.20)' }} /&gt;&#13;&#10;    &lt;Box style={{ position: 'absolute', left: 589, top: 551, width: 14, height: 14, borderRadius: 7, background: 'rgba(232,237,243,0.30)' }} /&gt;&lt;Box style={{ position: 'absolute', left: 592, top: 554, width: 8, height: 8, borderRadius: 4, background: '#0E1420' }} /&gt;&#13;&#10;    &lt;Box style={{ position: 'absolute', left: 700, top: 555, width: 6, height: 6, borderRadius: 3, background: 'rgba(232,237,243,0.20)' }} /&gt;&#13;&#10;    &lt;Box style={{ position: 'absolute', left: 803, top: 551, width: 14, height: 14, borderRadius: 7, background: 'rgba(232,237,243,0.30)' }} /&gt;&lt;Box style={{ position: 'absolute', left: 806, top: 554, width: 8, height: 8, borderRadius: 4, background: '#0E1420' }} /&gt;&#13;&#10;&#13;&#10;    &lt;Box style={{ position: 'absolute', left: 72, top: 596, width: 792, flexDirection: 'row', alignItems: 'center', gap: 20 }}&gt;&#13;&#10;        &lt;Box style={{ flexDirection: 'row', alignItems: 'center', gap: 6 }}&gt;&lt;Box style={{ width: 10, height: 10, borderRadius: 5, background: '#E8EDF3' }} /&gt;&lt;Text style={{ fontSize: 12, color: 'rgba(232,237,243,0.42)' }}&gt;可判定&lt;/Text&gt;&lt;/Box&gt;&#13;&#10;        &lt;Box style={{ flexDirection: 'row', alignItems: 'center', gap: 6 }}&gt;&lt;Box style={{ width: 10, height: 10, borderRadius: 5, background: 'rgba(232,237,243,0.30)' }} /&gt;&lt;Text style={{ fontSize: 12, color: 'rgba(232,237,243,0.42)' }}&gt;部分可判定&lt;/Text&gt;&lt;/Box&gt;&#13;&#10;        &lt;Box style={{ flexDirection: 'row', alignItems: 'center', gap: 6 }}&gt;&lt;Box style={{ width: 5, height: 5, borderRadius: 3, background: 'rgba(232,237,243,0.20)' }} /&gt;&lt;Text style={{ fontSize: 12, color: 'rgba(232,237,243,0.42)' }}&gt;弱信号&lt;/Text&gt;&lt;/Box&gt;&#13;&#10;        &lt;Box style={{ flexDirection: 'row', alignItems: 'center', gap: 6 }}&gt;&lt;Box style={{ width: 5, height: 5, background: 'transparent' }} /&gt;&lt;Text style={{ fontSize: 12, color: 'rgba(232,237,243,0.42)' }}&gt;空白 = 无能力&lt;/Text&gt;&lt;/Box&gt;&#13;&#10;    &lt;/Box&gt;&#13;&#10;&#13;&#10;    &lt;Box style={{ position: 'absolute', left: 900, top: 152, width: 308, height: 470, flexDirection: 'column' }}&gt;&#13;&#10;        &lt;Text style={{ fontSize: 13, letterSpacing: 3, color: '#C8A15A' }}&gt;核心判断&lt;/Text&gt;&#13;&#10;        &lt;Box style={{ width: 32, height: 1, background: 'rgba(200,161,90,0.45)', marginTop: 10, marginBottom: 18 }} /&gt;&#13;&#10;        &lt;Text style={{ fontSize: 23, fontWeight: 'bold', lineHeight: 1.5, color: '#E8EDF3' }}&gt;前两列，&lt;br /&gt;对装配态几乎无效。&lt;/Text&gt;&#13;&#10;        &lt;Text style={{ fontSize: 13.5, lineHeight: 1.8, color: 'rgba(232,237,243,0.52)', marginTop: 18 }}&gt;IQC 与 TDR 筛的是来料与组件级缺陷。「有没有插到位」是装配态属性，只有通电后的链路行为能反映。&lt;/Text&gt;&#13;&#10;&#13;&#10;        &lt;Box style={{ flexDirection: 'row', alignItems: 'flex-start', gap: 10, marginTop: 18 }}&gt;&#13;&#10;            &lt;Box style={{ width: 3, height: 40, background: 'rgba(200,161,90,0.55)', marginTop: 3 }} /&gt;&#13;&#10;            &lt;Box style={{ flexDirection: 'column', width: 272 }}&gt;&#13;&#10;                &lt;Text style={{ fontSize: 13, lineHeight: 1.6, color: '#E8EDF3' }}&gt;互锁信号只证明「插了」&lt;/Text&gt;&#13;&#10;                &lt;Text style={{ fontSize: 12.5, lineHeight: 1.7, color: 'rgba(232,237,243,0.45)' }}&gt;不证明插对了端口、也不证明插到位了。&lt;/Text&gt;&#13;&#10;            &lt;/Box&gt;&#13;&#10;        &lt;/Box&gt;&#13;&#10;        &lt;Box style={{ flexDirection: 'row', alignItems: 'flex-start', gap: 10, marginTop: 14 }}&gt;&#13;&#10;            &lt;Box style={{ width: 3, height: 40, background: 'rgba(200,161,90,0.55)', marginTop: 3 }} /&gt;&#13;&#10;            &lt;Box style={{ flexDirection: 'column', width: 272 }}&gt;&#13;&#10;                &lt;Text style={{ fontSize: 13, lineHeight: 1.6, color: '#E8EDF3' }}&gt;误码计数能发现接触不良&lt;/Text&gt;&#13;&#10;                &lt;Text style={{ fontSize: 12.5, lineHeight: 1.7, color: 'rgba(232,237,243,0.45)' }}&gt;但完全漏插时，链路可能根本不上报。&lt;/Text&gt;&#13;&#10;            &lt;/Box&gt;&#13;&#10;        &lt;/Box&gt;&#13;&#10;        &lt;Box style={{ flexDirection: 'row', alignItems: 'flex-start', gap: 10, marginTop: 14 }}&gt;&#13;&#10;            &lt;Box style={{ width: 3, height: 40, background: '#C8A15A', marginTop: 3 }} /&gt;&#13;&#10;            &lt;Box style={{ flexDirection: 'column', width: 272 }}&gt;&#13;&#10;                &lt;Text style={{ fontSize: 13, lineHeight: 1.6, color: '#C8A15A' }}&gt;三者交叉，才算装配态成立&lt;/Text&gt;&#13;&#10;                &lt;Text style={{ fontSize: 12.5, lineHeight: 1.7, color: 'rgba(232,237,243,0.45)' }}&gt;busbw 达标 且 #wrong = 0，缺一不可。&lt;/Text&gt;&#13;&#10;            &lt;/Box&gt;&#13;&#10;        &lt;/Box&gt;&#13;&#10;&#13;&#10;    &lt;/Box&gt;&#13;&#10;&#13;&#10;    &lt;Box style={{ position: 'absolute', left: 72, top: 622 }}&gt;&lt;Text style={{ fontSize: 11.5, lineHeight: 1.7, color: 'rgba(232,237,243,0.28)' }}&gt;NCCL 判据引自 OCP 2026《From Tray to Training Job: L10–L12 Manufacturing Test》样例输出。&lt;/Text&gt;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11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7810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来料检验和</a:t>
            </a:r>
            <a:r>
              <a:rPr lang="en-US" sz="2700" b="1">
                <a:solidFill>
                  <a:srgbClr val="E8EDF3"/>
                </a:solidFill>
                <a:latin typeface="Microsoft YaHei"/>
                <a:ea typeface="Microsoft YaHei"/>
              </a:rPr>
              <a:t xml:space="preserve"> TDR</a:t>
            </a: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，救不了装配态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058400" y="4381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03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两个物理面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2352675" y="1543050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来料</a:t>
            </a:r>
            <a:r>
              <a:rPr lang="en-US" sz="975" spc="38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 xml:space="preserve"> IQC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362325" y="15430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组件</a:t>
            </a:r>
            <a:r>
              <a:rPr lang="en-US" sz="975" spc="38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 xml:space="preserve"> TDR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400550" y="15430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互锁信号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419725" y="15430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误码计数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372225" y="1543050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8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NCCL </a:t>
            </a:r>
            <a:r>
              <a:rPr lang="zh-CN" sz="975" spc="38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58075" y="15430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38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现场巡检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85800" y="1790700"/>
            <a:ext cx="75438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107632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未就位</a:t>
            </a:r>
            <a:r>
              <a:rPr lang="en-US" sz="1050">
                <a:solidFill>
                  <a:srgbClr val="E8EDF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未插到位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609975" y="2085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591050" y="2047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610225" y="2047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638800" y="2076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629400" y="2047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7648575" y="2047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677150" y="2076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85800" y="23812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5800" y="25146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错插</a:t>
            </a:r>
            <a:r>
              <a:rPr lang="en-US" sz="1050">
                <a:solidFill>
                  <a:srgbClr val="E8EDF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插错端口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609975" y="2619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4591050" y="25812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4619625" y="2609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610225" y="25812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638800" y="2609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629400" y="25812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7686675" y="2619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85800" y="29146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2667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漏插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4591050" y="3114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5610225" y="3114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638800" y="3143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629400" y="3114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7648575" y="3114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7677150" y="3143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85800" y="34480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85800" y="3581400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端子压接不良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2552700" y="36480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2581275" y="3676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3571875" y="36480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5610225" y="36480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629400" y="36480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6657975" y="3676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85800" y="39814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85800" y="4114800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线序错误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2590800" y="4219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3571875" y="41814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5610225" y="41814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629400" y="41814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85800" y="45148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5800" y="46482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弯折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应力损伤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2552700" y="4714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2581275" y="4743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3571875" y="4714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3600450" y="4743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5610225" y="4714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5638800" y="4743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667500" y="4752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648575" y="4714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7677150" y="4743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685800" y="5048250"/>
            <a:ext cx="7543800" cy="9525"/>
          </a:xfrm>
          <a:prstGeom prst="rect">
            <a:avLst/>
          </a:prstGeom>
          <a:solidFill>
            <a:srgbClr val="E8EDF3">
              <a:alpha val="6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85800" y="5181600"/>
            <a:ext cx="942975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屏蔽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接地不良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2590800" y="5286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3609975" y="5286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5610225" y="52482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638800" y="527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667500" y="52863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648575" y="52482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7677150" y="5276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685800" y="5705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56769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可判定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1371600" y="5705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524000" y="56769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部分可判定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2286000" y="57245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2390775" y="56769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弱信号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028950" y="5676900"/>
            <a:ext cx="733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空白</a:t>
            </a:r>
            <a:r>
              <a:rPr lang="en-US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00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无能力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572500" y="144780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核心判断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572500" y="1695450"/>
            <a:ext cx="304800" cy="9525"/>
          </a:xfrm>
          <a:prstGeom prst="rect">
            <a:avLst/>
          </a:prstGeom>
          <a:solidFill>
            <a:srgbClr val="C8A15A">
              <a:alpha val="45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572500" y="1876425"/>
            <a:ext cx="2933700" cy="7905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E8EDF3"/>
                </a:solidFill>
                <a:latin typeface="Microsoft YaHei"/>
                <a:ea typeface="Microsoft YaHei"/>
              </a:rPr>
              <a:t>前两列，</a:t>
            </a:r>
            <a:endParaRPr/>
          </a:p>
          <a:p>
            <a:pPr>
              <a:lnSpc>
                <a:spcPct val="150000"/>
              </a:lnSpc>
            </a:pPr>
            <a:r>
              <a:rPr lang="zh-CN" sz="1725" b="1">
                <a:solidFill>
                  <a:srgbClr val="E8EDF3"/>
                </a:solidFill>
                <a:latin typeface="Microsoft YaHei"/>
                <a:ea typeface="Microsoft YaHei"/>
              </a:rPr>
              <a:t>对装配态几乎无效。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572500" y="2838450"/>
            <a:ext cx="29337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 xml:space="preserve">IQC </a:t>
            </a: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 xml:space="preserve"> TDR </a:t>
            </a:r>
            <a:r>
              <a:rPr lang="zh-CN" sz="1013">
                <a:solidFill>
                  <a:srgbClr val="E8EDF3">
                    <a:alpha val="52000"/>
                  </a:srgbClr>
                </a:solidFill>
                <a:latin typeface="Microsoft YaHei"/>
                <a:ea typeface="Microsoft YaHei"/>
              </a:rPr>
              <a:t>筛的是来料与组件级缺陷。「有没有插到位」是装配态属性，只有通电后的链路行为能反映。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8572500" y="3876675"/>
            <a:ext cx="28575" cy="38100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696325" y="3848100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E8EDF3"/>
                </a:solidFill>
                <a:latin typeface="Microsoft YaHei"/>
                <a:ea typeface="Microsoft YaHei"/>
              </a:rPr>
              <a:t>互锁信号只证明「插了」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696325" y="4086225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不证明插对了端口、也不证明插到位了。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8572500" y="4495800"/>
            <a:ext cx="28575" cy="38100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696325" y="4467225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E8EDF3"/>
                </a:solidFill>
                <a:latin typeface="Microsoft YaHei"/>
                <a:ea typeface="Microsoft YaHei"/>
              </a:rPr>
              <a:t>误码计数能发现接触不良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696325" y="470535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但完全漏插时，链路可能根本不上报。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572500" y="5114925"/>
            <a:ext cx="28575" cy="3810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696325" y="5086350"/>
            <a:ext cx="25908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C8A15A"/>
                </a:solidFill>
                <a:latin typeface="Microsoft YaHei"/>
                <a:ea typeface="Microsoft YaHei"/>
              </a:rPr>
              <a:t>三者交叉，才算装配态成立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96325" y="5324475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busbw </a:t>
            </a: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达标</a:t>
            </a:r>
            <a:r>
              <a:rPr lang="en-US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且</a:t>
            </a:r>
            <a:r>
              <a:rPr lang="en-US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#wrong = 0</a:t>
            </a: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，缺一不可。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5924550"/>
            <a:ext cx="493395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 xml:space="preserve">NCCL </a:t>
            </a: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判据引自</a:t>
            </a:r>
            <a:r>
              <a:rPr lang="en-US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 xml:space="preserve"> OCP 2026</a:t>
            </a: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《</a:t>
            </a:r>
            <a:r>
              <a:rPr lang="en-US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From Tray to Training Job: L10–L12 Manufacturing Test</a:t>
            </a: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》样例输出。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25200" y="6457950"/>
            <a:ext cx="38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3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860 }}&gt;&lt;Text style={{ fontSize: 36, fontWeight: 'bold', lineHeight: 1.3, color: '#E8EDF3' }}&gt;液路的问题不在今天，在三个月后&lt;/Text&gt;&lt;/Box&gt;&#13;&#10;    &lt;Box style={{ position: 'absolute', right: 72, top: 46 }}&gt;&lt;Text style={{ fontFamily: 'Georgia', fontSize: 14, letterSpacing: 2, color: 'rgba(232,237,243,0.45)' }}&gt;03 · 两个物理面&lt;/Text&gt;&lt;/Box&gt;&#13;&#10;&#13;&#10;    &lt;Box style={{ position: 'absolute', left: 72, top: 128 }}&gt;&lt;Text style={{ fontSize: 13, letterSpacing: 3, color: '#C8A15A' }}&gt;液路失效的六个暴露阶段&lt;/Text&gt;&lt;/Box&gt;&#13;&#10;&#13;&#10;    &lt;Box style={{ position: 'absolute', left: 72, top: 500, width: 780, height: 1, background: 'rgba(232,237,243,0.18)' }} /&gt;&#13;&#10;&lt;Box style={{ position: 'absolute', left: 72, top: 365, width: 80, height: 135, background: 'rgba(232,237,243,0.20)' }} /&gt;&#13;&#10;&lt;Box style={{ position: 'absolute', left: 72, top: 514, width: 80, alignItems: 'center' }}&gt;&lt;Text style={{ fontFamily: 'Georgia', fontSize: 13, lineHeight: 1.4, color: 'rgba(232,237,243,0.40)' }}&gt;①&lt;/Text&gt;&lt;/Box&gt;&#13;&#10;&lt;Box style={{ position: 'absolute', left: 66, top: 536, width: 92, alignItems: 'center' }}&gt;&lt;Text style={{ fontSize: 12.5, lineHeight: 1.5, color: 'rgba(232,237,243,0.42)' }}&gt;材料 / 密封件&lt;/Text&gt;&lt;/Box&gt;&#13;&#10;&lt;Box style={{ position: 'absolute', left: 212, top: 446, width: 80, height: 54, background: 'rgba(232,237,243,0.20)' }} /&gt;&#13;&#10;&lt;Box style={{ position: 'absolute', left: 212, top: 514, width: 80, alignItems: 'center' }}&gt;&lt;Text style={{ fontFamily: 'Georgia', fontSize: 13, lineHeight: 1.4, color: 'rgba(232,237,243,0.40)' }}&gt;②&lt;/Text&gt;&lt;/Box&gt;&#13;&#10;&lt;Box style={{ position: 'absolute', left: 206, top: 536, width: 92, alignItems: 'center' }}&gt;&lt;Text style={{ fontSize: 12.5, lineHeight: 1.5, color: 'rgba(232,237,243,0.42)' }}&gt;出厂保压测试&lt;/Text&gt;&lt;/Box&gt;&#13;&#10;&lt;Box style={{ position: 'absolute', left: 352, top: 266, width: 80, height: 234, background: '#C8A15A' }} /&gt;&#13;&#10;&lt;Box style={{ position: 'absolute', left: 352, top: 514, width: 80, alignItems: 'center' }}&gt;&lt;Text style={{ fontFamily: 'Georgia', fontSize: 13, lineHeight: 1.4, color: '#C8A15A' }}&gt;③&lt;/Text&gt;&lt;/Box&gt;&#13;&#10;&lt;Box style={{ position: 'absolute', left: 346, top: 536, width: 92, alignItems: 'center' }}&gt;&lt;Text style={{ fontSize: 12.5, lineHeight: 1.5, color: 'rgba(232,237,243,0.72)' }}&gt;运输与搬运&lt;/Text&gt;&lt;/Box&gt;&#13;&#10;&lt;Box style={{ position: 'absolute', left: 492, top: 380, width: 80, height: 120, background: 'rgba(232,237,243,0.20)' }} /&gt;&#13;&#10;&lt;Box style={{ position: 'absolute', left: 492, top: 514, width: 80, alignItems: 'center' }}&gt;&lt;Text style={{ fontFamily: 'Georgia', fontSize: 13, lineHeight: 1.4, color: 'rgba(232,237,243,0.40)' }}&gt;④&lt;/Text&gt;&lt;/Box&gt;&#13;&#10;&lt;Box style={{ position: 'absolute', left: 486, top: 536, width: 92, alignItems: 'center' }}&gt;&lt;Text style={{ fontSize: 12.5, lineHeight: 1.5, color: 'rgba(232,237,243,0.42)' }}&gt;存储与冷启动&lt;/Text&gt;&lt;/Box&gt;&#13;&#10;&lt;Box style={{ position: 'absolute', left: 632, top: 245, width: 80, height: 255, background: '#C8A15A' }} /&gt;&#13;&#10;&lt;Box style={{ position: 'absolute', left: 632, top: 514, width: 80, alignItems: 'center' }}&gt;&lt;Text style={{ fontFamily: 'Georgia', fontSize: 13, lineHeight: 1.4, color: '#C8A15A' }}&gt;⑤&lt;/Text&gt;&lt;/Box&gt;&#13;&#10;&lt;Box style={{ position: 'absolute', left: 626, top: 536, width: 92, alignItems: 'center' }}&gt;&lt;Text style={{ fontSize: 12.5, lineHeight: 1.5, color: 'rgba(232,237,243,0.72)' }}&gt;现场灌注 / 冲洗&lt;/Text&gt;&lt;/Box&gt;&#13;&#10;&lt;Box style={{ position: 'absolute', left: 772, top: 224, width: 80, height: 276, background: '#C8A15A' }} /&gt;&#13;&#10;&lt;Box style={{ position: 'absolute', left: 772, top: 514, width: 80, alignItems: 'center' }}&gt;&lt;Text style={{ fontFamily: 'Georgia', fontSize: 13, lineHeight: 1.4, color: '#C8A15A' }}&gt;⑥&lt;/Text&gt;&lt;/Box&gt;&#13;&#10;&lt;Box style={{ position: 'absolute', left: 766, top: 536, width: 92, alignItems: 'center' }}&gt;&lt;Text style={{ fontSize: 12.5, lineHeight: 1.5, color: 'rgba(232,237,243,0.72)' }}&gt;长期运行&lt;/Text&gt;&lt;/Box&gt;&#13;&#10;&lt;Box style={{ position: 'absolute', left: 212, top: 424, width: 80, height: 1, background: 'rgba(232,237,243,0.30)' }} /&gt;&#13;&#10;&lt;Box style={{ position: 'absolute', left: 212, top: 424, width: 1, height: 18, background: 'rgba(232,237,243,0.30)' }} /&gt;&#13;&#10;&lt;Box style={{ position: 'absolute', left: 291, top: 424, width: 1, height: 18, background: 'rgba(232,237,243,0.30)' }} /&gt;&#13;&#10;&lt;Box style={{ position: 'absolute', left: 160, top: 396, width: 184, alignItems: 'center' }}&gt;&lt;Text style={{ fontSize: 12, lineHeight: 1.5, color: 'rgba(232,237,243,0.55)' }}&gt;样机取样窗口只到这里&lt;/Text&gt;&lt;/Box&gt;&#13;&#10;&#13;&#10;    &lt;Box style={{ position: 'absolute', left: 936, top: 150, width: 272, flexDirection: 'column' }}&gt;&#13;&#10;        &lt;Text style={{ fontSize: 12, letterSpacing: 2, color: 'rgba(232,237,243,0.38)' }}&gt;潜伏期&lt;/Text&gt;&#13;&#10;        &lt;Box style={{ flexDirection: 'row', alignItems: 'flex-end', gap: 8, marginTop: 6 }}&gt;&#13;&#10;            &lt;Text style={{ fontFamily: 'Georgia', fontSize: 96, lineHeight: 1.05, letterSpacing: -4, color: '#C8A15A' }}&gt;3–12&lt;/Text&gt;&#13;&#10;            &lt;Text style={{ fontSize: 20, lineHeight: 1.4, color: '#C8A15A', marginBottom: 16 }}&gt;个月&lt;/Text&gt;&#13;&#10;        &lt;/Box&gt;&#13;&#10;        &lt;Box style={{ width: 44, height: 2, background: 'rgba(200,161,90,0.55)', marginTop: 18, marginBottom: 18 }} /&gt;&#13;&#10;        &lt;Text style={{ fontSize: 14.5, lineHeight: 1.85, color: 'rgba(232,237,243,0.58)' }}&gt;慢渗、电化学腐蚀、冷热循环下的接头松动，都要在真实工况里跑上几个月才显形。&lt;/Text&gt;&#13;&#10;        &lt;Text style={{ fontSize: 14.5, lineHeight: 1.85, color: 'rgba(232,237,243,0.58)', marginTop: 12 }}&gt;验收当天不漏，说明不了三个月后不漏。&lt;/Text&gt;&#13;&#10;        &lt;Text style={{ fontSize: 11.5, lineHeight: 1.7, color: 'rgba(232,237,243,0.28)', marginTop: 16 }}&gt;区间为工程经验区间，非实测统计值。&lt;/Text&gt;&#13;&#10;    &lt;/Box&gt;&#13;&#10;&#13;&#10;    &lt;Box style={{ position: 'absolute', left: 72, top: 588, width: 1136, height: 58, background: 'rgba(200,161,90,0.09)', flexDirection: 'row', alignItems: 'center' }}&gt;&#13;&#10;        &lt;Box style={{ width: 3, height: 58, background: '#C8A15A' }} /&gt;&#13;&#10;        &lt;Text style={{ fontSize: 17, lineHeight: 1.5, color: '#E8EDF3', marginLeft: 22, width: 1070 }}&gt;用样机状态推断液路可制造性，取样点根本不在风险区；它能证明的只有「出厂那一刻不漏」。&lt;/Text&gt;&#13;&#10;    &lt;/Box&gt;&#13;&#10;&#13;&#10;    &lt;Box style={{ position: 'absolute', left: 72, top: 156, width: 800 }}&gt;&lt;Text style={{ fontSize: 11.5, lineHeight: 1.6, color: 'rgba(232,237,243,0.28)' }}&gt;纵轴：该阶段液路失效的发生概率 × 影响；横轴为产品生命周期顺序。高度为分析模型示意。&lt;/Text&gt;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12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191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液路的问题不在今天，在三个月后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058400" y="4381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03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两个物理面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12192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液路失效的六个暴露阶段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85800" y="4762500"/>
            <a:ext cx="7429500" cy="9525"/>
          </a:xfrm>
          <a:prstGeom prst="rect">
            <a:avLst/>
          </a:prstGeom>
          <a:solidFill>
            <a:srgbClr val="E8EDF3">
              <a:alpha val="18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85800" y="3476625"/>
            <a:ext cx="762000" cy="1285875"/>
          </a:xfrm>
          <a:prstGeom prst="rect">
            <a:avLst/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810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①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04850" y="51054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材料</a:t>
            </a:r>
            <a:r>
              <a:rPr lang="en-US" sz="938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密封件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2019300" y="4248150"/>
            <a:ext cx="762000" cy="514350"/>
          </a:xfrm>
          <a:prstGeom prst="rect">
            <a:avLst/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3145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②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2047875" y="5105400"/>
            <a:ext cx="7143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出厂保压测试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352800" y="2533650"/>
            <a:ext cx="762000" cy="22288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6480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C8A15A"/>
                </a:solidFill>
                <a:latin typeface="Georgia"/>
                <a:ea typeface="Georgia"/>
              </a:rPr>
              <a:t>③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438525" y="5105400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运输与搬运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686300" y="3619500"/>
            <a:ext cx="762000" cy="1143000"/>
          </a:xfrm>
          <a:prstGeom prst="rect">
            <a:avLst/>
          </a:prstGeom>
          <a:solidFill>
            <a:srgbClr val="E8EDF3">
              <a:alpha val="20000"/>
            </a:srgbClr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9815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E8EDF3">
                    <a:alpha val="40000"/>
                  </a:srgbClr>
                </a:solidFill>
                <a:latin typeface="Georgia"/>
                <a:ea typeface="Georgia"/>
              </a:rPr>
              <a:t>④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714875" y="5105400"/>
            <a:ext cx="7143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42000"/>
                  </a:srgbClr>
                </a:solidFill>
                <a:latin typeface="Microsoft YaHei"/>
                <a:ea typeface="Microsoft YaHei"/>
              </a:rPr>
              <a:t>存储与冷启动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19800" y="2333625"/>
            <a:ext cx="762000" cy="2428875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150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C8A15A"/>
                </a:solidFill>
                <a:latin typeface="Georgia"/>
                <a:ea typeface="Georgia"/>
              </a:rPr>
              <a:t>⑤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981700" y="5105400"/>
            <a:ext cx="8382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现场灌注</a:t>
            </a:r>
            <a:r>
              <a:rPr lang="en-US" sz="938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冲洗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353300" y="2133600"/>
            <a:ext cx="762000" cy="26289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648575" y="4895850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975">
                <a:solidFill>
                  <a:srgbClr val="C8A15A"/>
                </a:solidFill>
                <a:latin typeface="Georgia"/>
                <a:ea typeface="Georgia"/>
              </a:rPr>
              <a:t>⑥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96175" y="5105400"/>
            <a:ext cx="4762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72000"/>
                  </a:srgbClr>
                </a:solidFill>
                <a:latin typeface="Microsoft YaHei"/>
                <a:ea typeface="Microsoft YaHei"/>
              </a:rPr>
              <a:t>长期运行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2019300" y="4038600"/>
            <a:ext cx="762000" cy="9525"/>
          </a:xfrm>
          <a:prstGeom prst="rect">
            <a:avLst/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2019300" y="4038600"/>
            <a:ext cx="9525" cy="171450"/>
          </a:xfrm>
          <a:prstGeom prst="rect">
            <a:avLst/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2771775" y="4038600"/>
            <a:ext cx="9525" cy="171450"/>
          </a:xfrm>
          <a:prstGeom prst="rect">
            <a:avLst/>
          </a:prstGeom>
          <a:solidFill>
            <a:srgbClr val="E8EDF3">
              <a:alpha val="30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828800" y="3771900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样机取样窗口只到这里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915400" y="1428750"/>
            <a:ext cx="2590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潜伏期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915400" y="1628775"/>
            <a:ext cx="1847850" cy="1152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7200" spc="-300">
                <a:solidFill>
                  <a:srgbClr val="C8A15A"/>
                </a:solidFill>
                <a:latin typeface="Georgia"/>
                <a:ea typeface="Georgia"/>
              </a:rPr>
              <a:t>3–12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839450" y="2305050"/>
            <a:ext cx="381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C8A15A"/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915400" y="2952750"/>
            <a:ext cx="419100" cy="19050"/>
          </a:xfrm>
          <a:prstGeom prst="rect">
            <a:avLst/>
          </a:prstGeom>
          <a:solidFill>
            <a:srgbClr val="C8A15A">
              <a:alpha val="55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915400" y="3143250"/>
            <a:ext cx="259080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88">
                <a:solidFill>
                  <a:srgbClr val="E8EDF3">
                    <a:alpha val="58000"/>
                  </a:srgbClr>
                </a:solidFill>
                <a:latin typeface="Microsoft YaHei"/>
                <a:ea typeface="Microsoft YaHei"/>
              </a:rPr>
              <a:t>慢渗、电化学腐蚀、冷热循环下的接头松动，都要在真实工况里跑上几个月才显形。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915400" y="4181475"/>
            <a:ext cx="2590800" cy="3143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88">
                <a:solidFill>
                  <a:srgbClr val="E8EDF3">
                    <a:alpha val="58000"/>
                  </a:srgbClr>
                </a:solidFill>
                <a:latin typeface="Microsoft YaHei"/>
                <a:ea typeface="Microsoft YaHei"/>
              </a:rPr>
              <a:t>验收当天不漏，说明不了三个月后不漏。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915400" y="46482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区间为工程经验区间，非实测统计值。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85800" y="5600700"/>
            <a:ext cx="10820400" cy="552450"/>
          </a:xfrm>
          <a:prstGeom prst="rect">
            <a:avLst/>
          </a:prstGeom>
          <a:solidFill>
            <a:srgbClr val="C8A15A">
              <a:alpha val="9000"/>
            </a:srgbClr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685800" y="5600700"/>
            <a:ext cx="28575" cy="5524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23925" y="5734050"/>
            <a:ext cx="101917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DF3"/>
                </a:solidFill>
                <a:latin typeface="Microsoft YaHei"/>
                <a:ea typeface="Microsoft YaHei"/>
              </a:rPr>
              <a:t>用样机状态推断液路可制造性，取样点根本不在风险区；它能证明的只有「出厂那一刻不漏」。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7620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纵轴：该阶段液路失效的发生概率</a:t>
            </a:r>
            <a:r>
              <a:rPr lang="en-US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影响；横轴为产品生命周期顺序。高度为分析模型示意。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06150" y="64579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 1280, height: 720, background: '#0E1420', position: 'relative', overflow: 'hidden' }}&gt;&#13;&#10;&#13;&#10;    &lt;Box style={{ position: 'absolute', right: 56, top: 200, flexDirection: 'column', alignItems: 'flex-end' }}&gt;&#13;&#10;        &lt;Text style={{ fontFamily: 'Georgia', fontSize: 300, lineHeight: 1.0, letterSpacing: -8, color: 'rgba(232,237,243,0.05)' }}&gt;04&lt;/Text&gt;&#13;&#10;    &lt;/Box&gt;&#13;&#10;&#13;&#10;    &lt;Box style={{ position: 'absolute', left: 72, top: 206, flexDirection: 'row', gap: 40 }}&gt;&#13;&#10;&#13;&#10;        &lt;Box style={{ width: 3, background: '#C8A15A' }} /&gt;&#13;&#10;&#13;&#10;        &lt;Box style={{ width: 560, flexDirection: 'column' }}&gt;&#13;&#10;            &lt;Text style={{ fontFamily: 'Georgia', fontSize: 16, letterSpacing: 5, color: '#C8A15A' }}&gt;CHAPTER 04&lt;/Text&gt;&#13;&#10;            &lt;Text style={{ fontSize: 52, fontWeight: 'bold', lineHeight: 1.25, color: '#E8EDF3', marginTop: 26 }}&gt;拆掉那个逻辑&lt;/Text&gt;&#13;&#10;            &lt;Box style={{ width: 64, height: 1, background: 'rgba(232,237,243,0.22)', marginTop: 24, marginBottom: 26 }} /&gt;&#13;&#10;            &lt;Text style={{ fontSize: 22, lineHeight: 1.7, color: 'rgba(232,237,243,0.62)' }}&gt;样机证明存在性，&lt;br /&gt;量产要求分布性。&lt;/Text&gt;&#13;&#10;            &lt;Text style={{ fontSize: 18, lineHeight: 1.85, color: 'rgba(232,237,243,0.45)', marginTop: 14 }}&gt;中间隔着 DVT 与 PVT&lt;br /&gt;两道完整的工程台阶。&lt;/Text&gt;&#13;&#10;        &lt;/Box&gt;&#13;&#10;&#13;&#10;    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本章 P13–P16 · 共 4 页&lt;/Text&gt;&lt;/Box&gt;&#13;&#10;    &lt;Box style={{ position: 'absolute', right: 72, top: 678 }}&gt;&lt;Text style={{ fontFamily: 'Georgia', fontSize: 14, color: 'rgba(232,237,243,0.45)' }}&gt;13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439150" y="1905000"/>
            <a:ext cx="321945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spc="-600">
                <a:solidFill>
                  <a:srgbClr val="E8EDF3">
                    <a:alpha val="5000"/>
                  </a:srgbClr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1962150"/>
            <a:ext cx="28575" cy="3419475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95375" y="1962150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75">
                <a:solidFill>
                  <a:srgbClr val="C8A15A"/>
                </a:solidFill>
                <a:latin typeface="Georgia"/>
                <a:ea typeface="Georgia"/>
              </a:rPr>
              <a:t>CHAPTER 04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095375" y="2400300"/>
            <a:ext cx="5334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E8EDF3"/>
                </a:solidFill>
                <a:latin typeface="Microsoft YaHei"/>
                <a:ea typeface="Microsoft YaHei"/>
              </a:rPr>
              <a:t>拆掉那个逻辑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1095375" y="3371850"/>
            <a:ext cx="609600" cy="9525"/>
          </a:xfrm>
          <a:prstGeom prst="rect">
            <a:avLst/>
          </a:prstGeom>
          <a:solidFill>
            <a:srgbClr val="E8EDF3">
              <a:alpha val="22000"/>
            </a:srgbClr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95375" y="3629025"/>
            <a:ext cx="533400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样机证明存在性，</a:t>
            </a:r>
            <a:endParaRPr/>
          </a:p>
          <a:p>
            <a:pPr>
              <a:lnSpc>
                <a:spcPct val="170000"/>
              </a:lnSpc>
            </a:pPr>
            <a:r>
              <a:rPr lang="zh-CN" sz="1650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量产要求分布性。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95375" y="4619625"/>
            <a:ext cx="5334000" cy="762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中间隔着</a:t>
            </a:r>
            <a:r>
              <a:rPr lang="en-US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DVT </a:t>
            </a: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PVT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两道完整的工程台阶。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9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本章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P13–P16 ·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880 }}&gt;&lt;Text style={{ fontSize: 36, fontWeight: 'bold', lineHeight: 1.3, color: '#E8EDF3' }}&gt;样机证明存在性，量产要求分布性&lt;/Text&gt;&lt;/Box&gt;&#13;&#10;    &lt;Box style={{ position: 'absolute', right: 72, top: 46 }}&gt;&lt;Text style={{ fontFamily: 'Georgia', fontSize: 14, letterSpacing: 2, color: 'rgba(232,237,243,0.45)' }}&gt;04 · 从误区到工具&lt;/Text&gt;&lt;/Box&gt;&#13;&#10;&#13;&#10;    &lt;Box style={{ position: 'absolute', left: 72, top: 140 }}&gt;&lt;Text style={{ fontSize: 13, letterSpacing: 3, color: '#C8A15A' }}&gt;四道台阶，缺一级就上不去&lt;/Text&gt;&lt;/Box&gt;&#13;&#10;&#13;&#10;    &lt;Box style={{ position: 'absolute', left: 72, top: 520, width: 670, height: 1, background: 'rgba(232,237,243,0.18)' }} /&gt;&#13;&#10;&lt;Box style={{ position: 'absolute', left: 72, top: 410, width: 160, height: 110, background: 'rgba(232,237,243,0.14)', padding: 14 }}&gt;&lt;Text style={{ fontFamily: 'Georgia', fontSize: 22, lineHeight: 1.3, color: 'rgba(232,237,243,0.50)' }}&gt;01&lt;/Text&gt;&lt;/Box&gt;&#13;&#10;&lt;Box style={{ position: 'absolute', left: 72, top: 536, width: 160, flexDirection: 'column' }}&gt;&#13;&#10;        &lt;Text style={{ fontSize: 18, fontWeight: 'bold', lineHeight: 1.4, color: '#E8EDF3' }}&gt;样机&lt;/Text&gt;&#13;&#10;        &lt;Text style={{ fontSize: 12.5, lineHeight: 1.6, color: 'rgba(232,237,243,0.48)', marginTop: 4 }}&gt;存在性证明&lt;/Text&gt;&#13;&#10;        &lt;Text style={{ fontSize: 11.5, lineHeight: 1.6, color: 'rgba(232,237,243,0.30)', marginTop: 2 }}&gt;n = 1&lt;/Text&gt;&#13;&#10;    &lt;/Box&gt;&#13;&#10;&lt;Box style={{ position: 'absolute', left: 242, top: 345, width: 160, height: 175, background: 'rgba(232,237,243,0.24)', padding: 14 }}&gt;&lt;Text style={{ fontFamily: 'Georgia', fontSize: 22, lineHeight: 1.3, color: 'rgba(232,237,243,0.72)' }}&gt;02&lt;/Text&gt;&lt;/Box&gt;&#13;&#10;&lt;Box style={{ position: 'absolute', left: 242, top: 536, width: 160, flexDirection: 'column' }}&gt;&#13;&#10;        &lt;Text style={{ fontSize: 18, fontWeight: 'bold', lineHeight: 1.4, color: '#E8EDF3' }}&gt;DVT&lt;/Text&gt;&#13;&#10;        &lt;Text style={{ fontSize: 12.5, lineHeight: 1.6, color: 'rgba(232,237,243,0.48)', marginTop: 4 }}&gt;设计裕度达标&lt;/Text&gt;&#13;&#10;        &lt;Text style={{ fontSize: 11.5, lineHeight: 1.6, color: 'rgba(232,237,243,0.30)', marginTop: 2 }}&gt;设计能过&lt;/Text&gt;&#13;&#10;    &lt;/Box&gt;&#13;&#10;&lt;Box style={{ position: 'absolute', left: 412, top: 280, width: 160, height: 240, background: 'rgba(200,161,90,0.42)', padding: 14 }}&gt;&lt;Text style={{ fontFamily: 'Georgia', fontSize: 22, lineHeight: 1.3, color: '#0E1420' }}&gt;03&lt;/Text&gt;&lt;/Box&gt;&#13;&#10;&lt;Box style={{ position: 'absolute', left: 412, top: 536, width: 160, flexDirection: 'column' }}&gt;&#13;&#10;        &lt;Text style={{ fontSize: 18, fontWeight: 'bold', lineHeight: 1.4, color: '#E8EDF3' }}&gt;PVT&lt;/Text&gt;&#13;&#10;        &lt;Text style={{ fontSize: 12.5, lineHeight: 1.6, color: 'rgba(232,237,243,0.48)', marginTop: 4 }}&gt;产线跑得稳&lt;/Text&gt;&#13;&#10;        &lt;Text style={{ fontSize: 11.5, lineHeight: 1.6, color: 'rgba(232,237,243,0.30)', marginTop: 2 }}&gt;线能跑通&lt;/Text&gt;&#13;&#10;    &lt;/Box&gt;&#13;&#10;&lt;Box style={{ position: 'absolute', left: 582, top: 215, width: 160, height: 305, background: '#C8A15A', padding: 14 }}&gt;&lt;Text style={{ fontFamily: 'Georgia', fontSize: 22, lineHeight: 1.3, color: '#0E1420' }}&gt;04&lt;/Text&gt;&lt;/Box&gt;&#13;&#10;&lt;Box style={{ position: 'absolute', left: 582, top: 536, width: 160, flexDirection: 'column' }}&gt;&#13;&#10;        &lt;Text style={{ fontSize: 18, fontWeight: 'bold', lineHeight: 1.4, color: '#C8A15A' }}&gt;MP&lt;/Text&gt;&#13;&#10;        &lt;Text style={{ fontSize: 12.5, lineHeight: 1.6, color: 'rgba(232,237,243,0.48)', marginTop: 4 }}&gt;分布可控&lt;/Text&gt;&#13;&#10;        &lt;Text style={{ fontSize: 11.5, lineHeight: 1.6, color: 'rgba(232,237,243,0.30)', marginTop: 2 }}&gt;批批一致&lt;/Text&gt;&#13;&#10;    &lt;/Box&gt;&#13;&#10;&#13;&#10;    &lt;Box style={{ position: 'absolute', left: 72, top: 630, width: 670 }}&gt;&lt;Text style={{ fontSize: 12, lineHeight: 1.7, color: 'rgba(232,237,243,0.30)' }}&gt;台阶高度示意「证据强度」，不代表工期或成本比例。&lt;/Text&gt;&lt;/Box&gt;&#13;&#10;&#13;&#10;    &lt;Box style={{ position: 'absolute', left: 806, top: 140, width: 402, flexDirection: 'column' }}&gt;&#13;&#10;        &lt;Text style={{ fontSize: 13, letterSpacing: 3, color: '#C8A15A' }}&gt;现实参照：Open Rack Wide&lt;/Text&gt;&#13;&#10;        &lt;Box style={{ flexDirection: 'row', alignItems: 'flex-end', gap: 10, marginTop: 8 }}&gt;&#13;&#10;            &lt;Text style={{ fontFamily: 'Georgia', fontSize: 64, lineHeight: 1.05, letterSpacing: -2, color: '#E8EDF3' }}&gt;13&lt;/Text&gt;&#13;&#10;            &lt;Text style={{ fontSize: 16, lineHeight: 1.4, color: 'rgba(232,237,243,0.55)', marginBottom: 8 }}&gt;个月，从规范初稿到量产爬坡&lt;/Text&gt;&#13;&#10;        &lt;/Box&gt;&#13;&#10;        &lt;Text style={{ fontSize: 13.5, lineHeight: 1.8, color: 'rgba(232,237,243,0.50)', marginTop: 12 }}&gt;这 13 个月不是在改设计，是在做公差、工装与产能。&lt;/Text&gt;&#13;&#10;    &lt;/Box&gt;&#13;&#10;&#13;&#10;    &lt;Box style={{ position: 'absolute', left: 806, top: 388, width: 7, height: 7, borderRadius: 4, background: 'rgba(232,237,243,0.28)' }} /&gt;&#13;&#10;&lt;Box style={{ position: 'absolute', left: 830, top: 380, width: 80 }}&gt;&lt;Text style={{ fontFamily: 'Georgia', fontSize: 13, lineHeight: 1.5, color: 'rgba(232,237,243,0.45)' }}&gt;2025.10&lt;/Text&gt;&lt;/Box&gt;&#13;&#10;&lt;Box style={{ position: 'absolute', left: 916, top: 380, width: 292 }}&gt;&lt;Text style={{ fontSize: 13, lineHeight: 1.5, color: 'rgba(232,237,243,0.62)' }}&gt;规范初稿 v0.9.0&lt;/Text&gt;&lt;/Box&gt;&#13;&#10;&lt;Box style={{ position: 'absolute', left: 806, top: 442, width: 7, height: 7, borderRadius: 4, background: 'rgba(232,237,243,0.28)' }} /&gt;&#13;&#10;&lt;Box style={{ position: 'absolute', left: 830, top: 434, width: 80 }}&gt;&lt;Text style={{ fontFamily: 'Georgia', fontSize: 13, lineHeight: 1.5, color: 'rgba(232,237,243,0.45)' }}&gt;2026.03&lt;/Text&gt;&lt;/Box&gt;&#13;&#10;&lt;Box style={{ position: 'absolute', left: 916, top: 434, width: 292 }}&gt;&lt;Text style={{ fontSize: 13, lineHeight: 1.5, color: 'rgba(232,237,243,0.62)' }}&gt;设计冻结 v0.9.5&lt;/Text&gt;&lt;/Box&gt;&#13;&#10;&lt;Box style={{ position: 'absolute', left: 806, top: 496, width: 7, height: 7, borderRadius: 4, background: 'rgba(232,237,243,0.28)' }} /&gt;&#13;&#10;&lt;Box style={{ position: 'absolute', left: 830, top: 488, width: 80 }}&gt;&lt;Text style={{ fontFamily: 'Georgia', fontSize: 13, lineHeight: 1.5, color: 'rgba(232,237,243,0.45)' }}&gt;2026.04&lt;/Text&gt;&lt;/Box&gt;&#13;&#10;&lt;Box style={{ position: 'absolute', left: 916, top: 488, width: 292 }}&gt;&lt;Text style={{ fontSize: 13, lineHeight: 1.5, color: 'rgba(232,237,243,0.62)' }}&gt;规范 v1.0.0&lt;/Text&gt;&lt;/Box&gt;&#13;&#10;&lt;Box style={{ position: 'absolute', left: 806, top: 550, width: 7, height: 7, borderRadius: 4, background: '#C8A15A' }} /&gt;&#13;&#10;&lt;Box style={{ position: 'absolute', left: 830, top: 542, width: 80 }}&gt;&lt;Text style={{ fontFamily: 'Georgia', fontSize: 13, lineHeight: 1.5, color: 'rgba(232,237,243,0.45)' }}&gt;2026.11&lt;/Text&gt;&lt;/Box&gt;&#13;&#10;&lt;Box style={{ position: 'absolute', left: 916, top: 542, width: 292 }}&gt;&lt;Text style={{ fontSize: 13, lineHeight: 1.5, color: '#C8A15A' }}&gt;量产爬坡&lt;/Text&gt;&lt;/Box&gt;&#13;&#10;&lt;Box style={{ position: 'absolute', left: 809, top: 388, width: 1, height: 176, background: 'rgba(232,237,243,0.12)' }} /&gt;&#13;&#10;&#13;&#10;    &lt;Box style={{ position: 'absolute', left: 806, top: 596, width: 402 }}&gt;&lt;Text style={{ fontSize: 12.5, lineHeight: 1.8, color: 'rgba(232,237,243,0.45)' }}&gt;DVT 与 PVT 各走过至少一轮完整工程样机，才进入量产。&lt;/Text&gt;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14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3820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样机证明存在性，量产要求分布性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829800" y="4381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04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从误区到工具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13335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四道台阶，缺一级就上不去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85800" y="4953000"/>
            <a:ext cx="6381750" cy="9525"/>
          </a:xfrm>
          <a:prstGeom prst="rect">
            <a:avLst/>
          </a:prstGeom>
          <a:solidFill>
            <a:srgbClr val="E8EDF3">
              <a:alpha val="18000"/>
            </a:srgbClr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85800" y="3905250"/>
            <a:ext cx="1524000" cy="1047750"/>
          </a:xfrm>
          <a:prstGeom prst="rect">
            <a:avLst/>
          </a:prstGeom>
          <a:solidFill>
            <a:srgbClr val="E8EDF3">
              <a:alpha val="14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" y="4038600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>
                <a:solidFill>
                  <a:srgbClr val="E8EDF3">
                    <a:alpha val="50000"/>
                  </a:srgbClr>
                </a:solidFill>
                <a:latin typeface="Georgia"/>
                <a:ea typeface="Georgia"/>
              </a:rPr>
              <a:t>01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5800" y="5105400"/>
            <a:ext cx="1524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 b="1">
                <a:solidFill>
                  <a:srgbClr val="E8EDF3"/>
                </a:solidFill>
                <a:latin typeface="Microsoft YaHei"/>
                <a:ea typeface="Microsoft YaHei"/>
              </a:rPr>
              <a:t>样机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54387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DF3">
                    <a:alpha val="48000"/>
                  </a:srgbClr>
                </a:solidFill>
                <a:latin typeface="Microsoft YaHei"/>
                <a:ea typeface="Microsoft YaHei"/>
              </a:rPr>
              <a:t>存在性证明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56864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63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n = 1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2305050" y="3286125"/>
            <a:ext cx="1524000" cy="1666875"/>
          </a:xfrm>
          <a:prstGeom prst="rect">
            <a:avLst/>
          </a:prstGeom>
          <a:solidFill>
            <a:srgbClr val="E8EDF3">
              <a:alpha val="24000"/>
            </a:srgbClr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438400" y="3419475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>
                <a:solidFill>
                  <a:srgbClr val="E8EDF3">
                    <a:alpha val="72000"/>
                  </a:srgbClr>
                </a:solidFill>
                <a:latin typeface="Georgia"/>
                <a:ea typeface="Georgia"/>
              </a:rPr>
              <a:t>02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305050" y="5105400"/>
            <a:ext cx="1524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E8EDF3"/>
                </a:solidFill>
                <a:latin typeface="Microsoft YaHei"/>
                <a:ea typeface="Microsoft YaHei"/>
              </a:rPr>
              <a:t>DVT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305050" y="54387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DF3">
                    <a:alpha val="48000"/>
                  </a:srgbClr>
                </a:solidFill>
                <a:latin typeface="Microsoft YaHei"/>
                <a:ea typeface="Microsoft YaHei"/>
              </a:rPr>
              <a:t>设计裕度达标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305050" y="56864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设计能过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3924300" y="2667000"/>
            <a:ext cx="1524000" cy="2286000"/>
          </a:xfrm>
          <a:prstGeom prst="rect">
            <a:avLst/>
          </a:prstGeom>
          <a:solidFill>
            <a:srgbClr val="C8A15A">
              <a:alpha val="42000"/>
            </a:srgbClr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057650" y="2800350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>
                <a:solidFill>
                  <a:srgbClr val="0E1420"/>
                </a:solidFill>
                <a:latin typeface="Georgia"/>
                <a:ea typeface="Georgia"/>
              </a:rPr>
              <a:t>03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924300" y="5105400"/>
            <a:ext cx="1524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E8EDF3"/>
                </a:solidFill>
                <a:latin typeface="Microsoft YaHei"/>
                <a:ea typeface="Microsoft YaHei"/>
              </a:rPr>
              <a:t>PVT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924300" y="54387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DF3">
                    <a:alpha val="48000"/>
                  </a:srgbClr>
                </a:solidFill>
                <a:latin typeface="Microsoft YaHei"/>
                <a:ea typeface="Microsoft YaHei"/>
              </a:rPr>
              <a:t>产线跑得稳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924300" y="56864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线能跑通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543550" y="2047875"/>
            <a:ext cx="1524000" cy="2905125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676900" y="2181225"/>
            <a:ext cx="1257300" cy="3333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650">
                <a:solidFill>
                  <a:srgbClr val="0E1420"/>
                </a:solidFill>
                <a:latin typeface="Georgia"/>
                <a:ea typeface="Georgia"/>
              </a:rPr>
              <a:t>04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543550" y="5105400"/>
            <a:ext cx="152400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 b="1">
                <a:solidFill>
                  <a:srgbClr val="C8A15A"/>
                </a:solidFill>
                <a:latin typeface="Microsoft YaHei"/>
                <a:ea typeface="Microsoft YaHei"/>
              </a:rPr>
              <a:t>MP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543550" y="54387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DF3">
                    <a:alpha val="48000"/>
                  </a:srgbClr>
                </a:solidFill>
                <a:latin typeface="Microsoft YaHei"/>
                <a:ea typeface="Microsoft YaHei"/>
              </a:rPr>
              <a:t>分布可控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543550" y="5686425"/>
            <a:ext cx="1524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批批一致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000750"/>
            <a:ext cx="63817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8EDF3">
                    <a:alpha val="30000"/>
                  </a:srgbClr>
                </a:solidFill>
                <a:latin typeface="Microsoft YaHei"/>
                <a:ea typeface="Microsoft YaHei"/>
              </a:rPr>
              <a:t>台阶高度示意「证据强度」，不代表工期或成本比例。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77150" y="1333500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现实参照：</a:t>
            </a:r>
            <a:r>
              <a:rPr lang="en-US" sz="975" spc="225">
                <a:solidFill>
                  <a:srgbClr val="C8A15A"/>
                </a:solidFill>
                <a:latin typeface="Microsoft YaHei"/>
                <a:ea typeface="Microsoft YaHei"/>
              </a:rPr>
              <a:t>Open Rack Wide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677150" y="1562100"/>
            <a:ext cx="561975" cy="771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800" spc="-150">
                <a:solidFill>
                  <a:srgbClr val="E8EDF3"/>
                </a:solidFill>
                <a:latin typeface="Georgia"/>
                <a:ea typeface="Georgia"/>
              </a:rPr>
              <a:t>13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34375" y="2000250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个月，从规范初稿到量产爬坡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677150" y="2447925"/>
            <a:ext cx="3829050" cy="285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13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这</a:t>
            </a:r>
            <a:r>
              <a:rPr lang="en-US" sz="1013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013">
                <a:solidFill>
                  <a:srgbClr val="E8EDF3">
                    <a:alpha val="50000"/>
                  </a:srgbClr>
                </a:solidFill>
                <a:latin typeface="Microsoft YaHei"/>
                <a:ea typeface="Microsoft YaHei"/>
              </a:rPr>
              <a:t>个月不是在改设计，是在做公差、工装与产能。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677150" y="36957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905750" y="36195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2025.10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24900" y="361950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规范初稿</a:t>
            </a:r>
            <a:r>
              <a:rPr lang="en-US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v0.9.0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677150" y="42100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905750" y="41338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2026.03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724900" y="413385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设计冻结</a:t>
            </a:r>
            <a:r>
              <a:rPr lang="en-US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v0.9.5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7677150" y="47244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E8EDF3">
              <a:alpha val="28000"/>
            </a:srgbClr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905750" y="46482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2026.04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724900" y="464820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>规范</a:t>
            </a:r>
            <a:r>
              <a:rPr lang="en-US" sz="975">
                <a:solidFill>
                  <a:srgbClr val="E8EDF3">
                    <a:alpha val="62000"/>
                  </a:srgbClr>
                </a:solidFill>
                <a:latin typeface="Microsoft YaHei"/>
                <a:ea typeface="Microsoft YaHei"/>
              </a:rPr>
              <a:t xml:space="preserve"> v1.0.0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677150" y="52387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905750" y="5162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2026.11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724900" y="516255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8A15A"/>
                </a:solidFill>
                <a:latin typeface="Microsoft YaHei"/>
                <a:ea typeface="Microsoft YaHei"/>
              </a:rPr>
              <a:t>量产爬坡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705725" y="3695700"/>
            <a:ext cx="9525" cy="1676400"/>
          </a:xfrm>
          <a:prstGeom prst="rect">
            <a:avLst/>
          </a:prstGeom>
          <a:solidFill>
            <a:srgbClr val="E8EDF3">
              <a:alpha val="12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77150" y="5676900"/>
            <a:ext cx="3829050" cy="257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DVT </a:t>
            </a: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 xml:space="preserve"> PVT </a:t>
            </a:r>
            <a:r>
              <a:rPr lang="zh-CN" sz="938">
                <a:solidFill>
                  <a:srgbClr val="E8EDF3">
                    <a:alpha val="45000"/>
                  </a:srgbClr>
                </a:solidFill>
                <a:latin typeface="Microsoft YaHei"/>
                <a:ea typeface="Microsoft YaHei"/>
              </a:rPr>
              <a:t>各走过至少一轮完整工程样机，才进入量产。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1106150" y="64579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7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900 }}&gt;&lt;Text style={{ fontSize: 36, fontWeight: 'bold', lineHeight: 1.3, color: '#E8EDF3' }}&gt;加权平均 56 分，判定仍然是不通过&lt;/Text&gt;&lt;/Box&gt;&#13;&#10;    &lt;Box style={{ position: 'absolute', right: 72, top: 46 }}&gt;&lt;Text style={{ fontFamily: 'Georgia', fontSize: 14, letterSpacing: 2, color: 'rgba(232,237,243,0.45)' }}&gt;04 · 从误区到工具&lt;/Text&gt;&lt;/Box&gt;&#13;&#10;&#13;&#10;    &lt;Box style={{ position: 'absolute', left: 72, top: 130 }}&gt;&lt;Text style={{ fontSize: 13, letterSpacing: 3, color: '#C8A15A' }}&gt;量产就绪度评分卡 · 八维&lt;/Text&gt;&lt;/Box&gt;&#13;&#10;    &lt;Box style={{ position: 'absolute', left: 430, top: 132 }}&gt;&lt;Text style={{ fontSize: 11.5, lineHeight: 1.5, color: 'rgba(232,237,243,0.28)' }}&gt;竖线 = 50 分红线&lt;/Text&gt;&lt;/Box&gt;&#13;&#10;&#13;&#10;    &lt;Box style={{ position: 'absolute', left: 72, top: 171, width: 110 }}&gt;&lt;Text style={{ fontSize: 14, lineHeight: 1.5, color: '#C8A15A' }}&gt;测试覆盖&lt;/Text&gt;&lt;/Box&gt;&#13;&#10;    &lt;Box style={{ position: 'absolute', left: 190, top: 179, width: 372, height: 6, background: 'rgba(232,237,243,0.10)' }} /&gt;&#13;&#10;    &lt;Box style={{ position: 'absolute', left: 190, top: 179, width: 167, height: 6, background: '#C8A15A' }} /&gt;&#13;&#10;    &lt;Box style={{ position: 'absolute', left: 376, top: 173, width: 1, height: 18, background: 'rgba(232,237,243,0.26)' }} /&gt;&#13;&#10;    &lt;Box style={{ position: 'absolute', left: 576, top: 170, width: 52 }}&gt;&lt;Text style={{ fontFamily: 'Georgia', fontSize: 17, lineHeight: 1.4, color: '#C8A15A' }}&gt;45&lt;/Text&gt;&lt;/Box&gt;&#13;&#10;    &lt;Box style={{ position: 'absolute', left: 630, top: 173, width: 58 }}&gt;&lt;Text style={{ fontFamily: 'Georgia', fontSize: 12, lineHeight: 1.4, color: 'rgba(232,237,243,0.32)' }}&gt;20%&lt;/Text&gt;&lt;/Box&gt;&#13;&#10;    &lt;Box style={{ position: 'absolute', left: 72, top: 223, width: 110 }}&gt;&lt;Text style={{ fontSize: 14, lineHeight: 1.5, color: '#E8EDF3' }}&gt;线缆装配验证&lt;/Text&gt;&lt;/Box&gt;&#13;&#10;    &lt;Box style={{ position: 'absolute', left: 190, top: 231, width: 372, height: 6, background: 'rgba(232,237,243,0.10)' }} /&gt;&#13;&#10;    &lt;Box style={{ position: 'absolute', left: 190, top: 231, width: 216, height: 6, background: 'rgba(232,237,243,0.42)' }} /&gt;&#13;&#10;    &lt;Box style={{ position: 'absolute', left: 376, top: 225, width: 1, height: 18, background: 'rgba(232,237,243,0.26)' }} /&gt;&#13;&#10;    &lt;Box style={{ position: 'absolute', left: 576, top: 222, width: 52 }}&gt;&lt;Text style={{ fontFamily: 'Georgia', fontSize: 17, lineHeight: 1.4, color: '#E8EDF3' }}&gt;58&lt;/Text&gt;&lt;/Box&gt;&#13;&#10;    &lt;Box style={{ position: 'absolute', left: 630, top: 225, width: 58 }}&gt;&lt;Text style={{ fontFamily: 'Georgia', fontSize: 12, lineHeight: 1.4, color: 'rgba(232,237,243,0.32)' }}&gt;15%&lt;/Text&gt;&lt;/Box&gt;&#13;&#10;    &lt;Box style={{ position: 'absolute', left: 72, top: 275, width: 110 }}&gt;&lt;Text style={{ fontSize: 14, lineHeight: 1.5, color: '#C8A15A' }}&gt;液路验证&lt;/Text&gt;&lt;/Box&gt;&#13;&#10;    &lt;Box style={{ position: 'absolute', left: 190, top: 283, width: 372, height: 6, background: 'rgba(232,237,243,0.10)' }} /&gt;&#13;&#10;    &lt;Box style={{ position: 'absolute', left: 190, top: 283, width: 156, height: 6, background: '#C8A15A' }} /&gt;&#13;&#10;    &lt;Box style={{ position: 'absolute', left: 376, top: 277, width: 1, height: 18, background: 'rgba(232,237,243,0.26)' }} /&gt;&#13;&#10;    &lt;Box style={{ position: 'absolute', left: 576, top: 274, width: 52 }}&gt;&lt;Text style={{ fontFamily: 'Georgia', fontSize: 17, lineHeight: 1.4, color: '#C8A15A' }}&gt;42&lt;/Text&gt;&lt;/Box&gt;&#13;&#10;    &lt;Box style={{ position: 'absolute', left: 630, top: 277, width: 58 }}&gt;&lt;Text style={{ fontFamily: 'Georgia', fontSize: 12, lineHeight: 1.4, color: 'rgba(232,237,243,0.32)' }}&gt;15%&lt;/Text&gt;&lt;/Box&gt;&#13;&#10;    &lt;Box style={{ position: 'absolute', left: 72, top: 327, width: 110 }}&gt;&lt;Text style={{ fontSize: 14, lineHeight: 1.5, color: '#E8EDF3' }}&gt;工装与夹具&lt;/Text&gt;&lt;/Box&gt;&#13;&#10;    &lt;Box style={{ position: 'absolute', left: 190, top: 335, width: 372, height: 6, background: 'rgba(232,237,243,0.10)' }} /&gt;&#13;&#10;    &lt;Box style={{ position: 'absolute', left: 190, top: 335, width: 260, height: 6, background: 'rgba(232,237,243,0.42)' }} /&gt;&#13;&#10;    &lt;Box style={{ position: 'absolute', left: 376, top: 329, width: 1, height: 18, background: 'rgba(232,237,243,0.26)' }} /&gt;&#13;&#10;    &lt;Box style={{ position: 'absolute', left: 576, top: 326, width: 52 }}&gt;&lt;Text style={{ fontFamily: 'Georgia', fontSize: 17, lineHeight: 1.4, color: '#E8EDF3' }}&gt;70&lt;/Text&gt;&lt;/Box&gt;&#13;&#10;    &lt;Box style={{ position: 'absolute', left: 630, top: 329, width: 58 }}&gt;&lt;Text style={{ fontFamily: 'Georgia', fontSize: 12, lineHeight: 1.4, color: 'rgba(232,237,243,0.32)' }}&gt;10%&lt;/Text&gt;&lt;/Box&gt;&#13;&#10;    &lt;Box style={{ position: 'absolute', left: 72, top: 379, width: 110 }}&gt;&lt;Text style={{ fontSize: 14, lineHeight: 1.5, color: '#E8EDF3' }}&gt;良率与过程能力&lt;/Text&gt;&lt;/Box&gt;&#13;&#10;    &lt;Box style={{ position: 'absolute', left: 190, top: 387, width: 372, height: 6, background: 'rgba(232,237,243,0.10)' }} /&gt;&#13;&#10;    &lt;Box style={{ position: 'absolute', left: 190, top: 387, width: 242, height: 6, background: 'rgba(232,237,243,0.42)' }} /&gt;&#13;&#10;    &lt;Box style={{ position: 'absolute', left: 376, top: 381, width: 1, height: 18, background: 'rgba(232,237,243,0.26)' }} /&gt;&#13;&#10;    &lt;Box style={{ position: 'absolute', left: 576, top: 378, width: 52 }}&gt;&lt;Text style={{ fontFamily: 'Georgia', fontSize: 17, lineHeight: 1.4, color: '#E8EDF3' }}&gt;65&lt;/Text&gt;&lt;/Box&gt;&#13;&#10;    &lt;Box style={{ position: 'absolute', left: 630, top: 381, width: 58 }}&gt;&lt;Text style={{ fontFamily: 'Georgia', fontSize: 12, lineHeight: 1.4, color: 'rgba(232,237,243,0.32)' }}&gt;15%&lt;/Text&gt;&lt;/Box&gt;&#13;&#10;    &lt;Box style={{ position: 'absolute', left: 72, top: 431, width: 110 }}&gt;&lt;Text style={{ fontSize: 14, lineHeight: 1.5, color: '#E8EDF3' }}&gt;二供与库存&lt;/Text&gt;&lt;/Box&gt;&#13;&#10;    &lt;Box style={{ position: 'absolute', left: 190, top: 439, width: 372, height: 6, background: 'rgba(232,237,243,0.10)' }} /&gt;&#13;&#10;    &lt;Box style={{ position: 'absolute', left: 190, top: 439, width: 205, height: 6, background: 'rgba(232,237,243,0.42)' }} /&gt;&#13;&#10;    &lt;Box style={{ position: 'absolute', left: 376, top: 433, width: 1, height: 18, background: 'rgba(232,237,243,0.26)' }} /&gt;&#13;&#10;    &lt;Box style={{ position: 'absolute', left: 576, top: 430, width: 52 }}&gt;&lt;Text style={{ fontFamily: 'Georgia', fontSize: 17, lineHeight: 1.4, color: '#E8EDF3' }}&gt;55&lt;/Text&gt;&lt;/Box&gt;&#13;&#10;    &lt;Box style={{ position: 'absolute', left: 630, top: 433, width: 58 }}&gt;&lt;Text style={{ fontFamily: 'Georgia', fontSize: 12, lineHeight: 1.4, color: 'rgba(232,237,243,0.32)' }}&gt;10%&lt;/Text&gt;&lt;/Box&gt;&#13;&#10;    &lt;Box style={{ position: 'absolute', left: 72, top: 483, width: 110 }}&gt;&lt;Text style={{ fontSize: 14, lineHeight: 1.5, color: '#E8EDF3' }}&gt;可服务性&lt;/Text&gt;&lt;/Box&gt;&#13;&#10;    &lt;Box style={{ position: 'absolute', left: 190, top: 491, width: 372, height: 6, background: 'rgba(232,237,243,0.10)' }} /&gt;&#13;&#10;    &lt;Box style={{ position: 'absolute', left: 190, top: 491, width: 231, height: 6, background: 'rgba(232,237,243,0.42)' }} /&gt;&#13;&#10;    &lt;Box style={{ position: 'absolute', left: 376, top: 485, width: 1, height: 18, background: 'rgba(232,237,243,0.26)' }} /&gt;&#13;&#10;    &lt;Box style={{ position: 'absolute', left: 576, top: 482, width: 52 }}&gt;&lt;Text style={{ fontFamily: 'Georgia', fontSize: 17, lineHeight: 1.4, color: '#E8EDF3' }}&gt;62&lt;/Text&gt;&lt;/Box&gt;&#13;&#10;    &lt;Box style={{ position: 'absolute', left: 630, top: 485, width: 58 }}&gt;&lt;Text style={{ fontFamily: 'Georgia', fontSize: 12, lineHeight: 1.4, color: 'rgba(232,237,243,0.32)' }}&gt;10%&lt;/Text&gt;&lt;/Box&gt;&#13;&#10;    &lt;Box style={{ position: 'absolute', left: 72, top: 535, width: 110 }}&gt;&lt;Text style={{ fontSize: 14, lineHeight: 1.5, color: '#E8EDF3' }}&gt;变更管理&lt;/Text&gt;&lt;/Box&gt;&#13;&#10;    &lt;Box style={{ position: 'absolute', left: 190, top: 543, width: 372, height: 6, background: 'rgba(232,237,243,0.10)' }} /&gt;&#13;&#10;    &lt;Box style={{ position: 'absolute', left: 190, top: 543, width: 268, height: 6, background: 'rgba(232,237,243,0.42)' }} /&gt;&#13;&#10;    &lt;Box style={{ position: 'absolute', left: 376, top: 537, width: 1, height: 18, background: 'rgba(232,237,243,0.26)' }} /&gt;&#13;&#10;    &lt;Box style={{ position: 'absolute', left: 576, top: 534, width: 52 }}&gt;&lt;Text style={{ fontFamily: 'Georgia', fontSize: 17, lineHeight: 1.4, color: '#E8EDF3' }}&gt;72&lt;/Text&gt;&lt;/Box&gt;&#13;&#10;    &lt;Box style={{ position: 'absolute', left: 630, top: 537, width: 58 }}&gt;&lt;Text style={{ fontFamily: 'Georgia', fontSize: 12, lineHeight: 1.4, color: 'rgba(232,237,243,0.32)' }}&gt;5%&lt;/Text&gt;&lt;/Box&gt;&#13;&#10;&#13;&#10;    &lt;Box style={{ position: 'absolute', left: 72, top: 616, width: 660 }}&gt;&lt;Text style={{ fontSize: 11.5, lineHeight: 1.6, color: 'rgba(232,237,243,0.28)' }}&gt;示例分数仅用于演示评分卡结构，不代表任何真实项目的实测结论。&lt;/Text&gt;&lt;/Box&gt;&#13;&#10;&#13;&#10;    &lt;Box style={{ position: 'absolute', left: 752, top: 130, width: 456, height: 502, flexDirection: 'column' }}&gt;&#13;&#10;        &lt;Text style={{ fontSize: 12, letterSpacing: 2, color: 'rgba(232,237,243,0.38)' }}&gt;综合得分（加权）&lt;/Text&gt;&#13;&#10;        &lt;Box style={{ flexDirection: 'row', alignItems: 'flex-end', gap: 10, marginTop: 4 }}&gt;&#13;&#10;            &lt;Text style={{ fontFamily: 'Georgia', fontSize: 92, lineHeight: 1.05, letterSpacing: -3, color: '#E8EDF3' }}&gt;56&lt;/Text&gt;&#13;&#10;            &lt;Text style={{ fontFamily: 'Georgia', fontSize: 20, lineHeight: 1.4, color: 'rgba(232,237,243,0.35)', marginBottom: 12 }}&gt;/ 100&lt;/Text&gt;&#13;&#10;        &lt;/Box&gt;&#13;&#10;&#13;&#10;        &lt;Box style={{ background: 'rgba(200,161,90,0.10)', flexDirection: 'row', alignItems: 'center', padding: 14, marginTop: 18 }}&gt;&#13;&#10;            &lt;Box style={{ width: 3, height: 34, background: '#C8A15A' }} /&gt;&#13;&#10;            &lt;Box style={{ flexDirection: 'column', marginLeft: 14, width: 400 }}&gt;&#13;&#10;                &lt;Text style={{ fontSize: 17, fontWeight: 'bold', lineHeight: 1.4, color: '#C8A15A' }}&gt;判定：不通过&lt;/Text&gt;&#13;&#10;                &lt;Text style={{ fontSize: 12.5, lineHeight: 1.5, color: 'rgba(232,237,243,0.55)', marginTop: 2 }}&gt;测试覆盖 45、液路验证 42，两项触及红线。&lt;/Text&gt;&#13;&#10;            &lt;/Box&gt;&#13;&#10;        &lt;/Box&gt;&#13;&#10;&#13;&#10;        &lt;Text style={{ fontSize: 14, lineHeight: 1.85, color: 'rgba(232,237,243,0.55)', marginTop: 22 }}&gt;加权平均看起来「及格」，但红线机制的意义正在这里：不允许用高分项把低分项拉平。&lt;/Text&gt;&#13;&#10;        &lt;Text style={{ fontSize: 14, lineHeight: 1.85, color: 'rgba(232,237,243,0.55)', marginTop: 12 }}&gt;如果只看总分，这两个缺口会被良率与工装的高分掩盖，直到量产爬坡期才以停线的形式出现。&lt;/Text&gt;&#13;&#10;&#13;&#10;        &lt;Box style={{ width: 456, height: 1, background: 'rgba(232,237,243,0.10)', marginTop: 'auto', marginBottom: 14 }} /&gt;&#13;&#10;        &lt;Text style={{ fontSize: 12.5, lineHeight: 1.7, color: 'rgba(232,237,243,0.38)' }}&gt;红线维度：测试覆盖、液路验证。任一项低于 50 分，整体直接判不通过。&lt;/Text&gt;&#13;&#10;    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&lt;/Text&gt;&lt;/Box&gt;&#13;&#10;    &lt;Box style={{ position: 'absolute', right: 72, top: 678 }}&gt;&lt;Text style={{ fontFamily: 'Georgia', fontSize: 14, color: 'rgba(232,237,243,0.45)' }}&gt;15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572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加权平均</a:t>
            </a:r>
            <a:r>
              <a:rPr lang="en-US" sz="2700" b="1">
                <a:solidFill>
                  <a:srgbClr val="E8EDF3"/>
                </a:solidFill>
                <a:latin typeface="Microsoft YaHei"/>
                <a:ea typeface="Microsoft YaHei"/>
              </a:rPr>
              <a:t xml:space="preserve"> 56 </a:t>
            </a: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分，判定仍然是不通过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829800" y="4381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04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从误区到工具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12382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量产就绪度评分卡</a:t>
            </a:r>
            <a:r>
              <a:rPr lang="en-US" sz="975" spc="225">
                <a:solidFill>
                  <a:srgbClr val="C8A15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八维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095750" y="1257300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竖线</a:t>
            </a:r>
            <a:r>
              <a:rPr lang="en-US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 xml:space="preserve"> = 50 </a:t>
            </a: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分红线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8A15A"/>
                </a:solidFill>
                <a:latin typeface="Microsoft YaHei"/>
                <a:ea typeface="Microsoft YaHei"/>
              </a:rPr>
              <a:t>测试覆盖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1809750" y="17049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1809750" y="1704975"/>
            <a:ext cx="1590675" cy="571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3581400" y="16478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486400" y="16192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C8A15A"/>
                </a:solidFill>
                <a:latin typeface="Georgia"/>
                <a:ea typeface="Georgia"/>
              </a:rPr>
              <a:t>45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00750" y="16478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20%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21240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线缆装配验证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1809750" y="22002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1809750" y="2200275"/>
            <a:ext cx="2057400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3581400" y="21431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486400" y="21145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58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00750" y="21431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15%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5800" y="26193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8A15A"/>
                </a:solidFill>
                <a:latin typeface="Microsoft YaHei"/>
                <a:ea typeface="Microsoft YaHei"/>
              </a:rPr>
              <a:t>液路验证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1809750" y="26955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1809750" y="2695575"/>
            <a:ext cx="1485900" cy="571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3581400" y="26384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486400" y="26098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C8A15A"/>
                </a:solidFill>
                <a:latin typeface="Georgia"/>
                <a:ea typeface="Georgia"/>
              </a:rPr>
              <a:t>42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00750" y="26384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15%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31146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工装与夹具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809750" y="31908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1809750" y="3190875"/>
            <a:ext cx="2476500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3581400" y="31337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486400" y="31051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70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00750" y="31337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10%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85800" y="36099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良率与过程能力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1809750" y="36861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1809750" y="3686175"/>
            <a:ext cx="2305050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3581400" y="36290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486400" y="36004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65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00750" y="36290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15%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85800" y="41052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二供与库存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809750" y="41814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1809750" y="4181475"/>
            <a:ext cx="1952625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3581400" y="41243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486400" y="40957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55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00750" y="41243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10%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46005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可服务性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1809750" y="46767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1809750" y="4676775"/>
            <a:ext cx="2200275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3581400" y="46196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486400" y="45910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62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00750" y="46196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10%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1047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8EDF3"/>
                </a:solidFill>
                <a:latin typeface="Microsoft YaHei"/>
                <a:ea typeface="Microsoft YaHei"/>
              </a:rPr>
              <a:t>变更管理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1809750" y="5172075"/>
            <a:ext cx="3543300" cy="57150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1809750" y="5172075"/>
            <a:ext cx="2552700" cy="57150"/>
          </a:xfrm>
          <a:prstGeom prst="rect">
            <a:avLst/>
          </a:prstGeom>
          <a:solidFill>
            <a:srgbClr val="E8EDF3">
              <a:alpha val="42000"/>
            </a:srgbClr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3581400" y="5114925"/>
            <a:ext cx="9525" cy="171450"/>
          </a:xfrm>
          <a:prstGeom prst="rect">
            <a:avLst/>
          </a:prstGeom>
          <a:solidFill>
            <a:srgbClr val="E8EDF3">
              <a:alpha val="26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486400" y="50863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75">
                <a:solidFill>
                  <a:srgbClr val="E8EDF3"/>
                </a:solidFill>
                <a:latin typeface="Georgia"/>
                <a:ea typeface="Georgia"/>
              </a:rPr>
              <a:t>72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00750" y="5114925"/>
            <a:ext cx="552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E8EDF3">
                    <a:alpha val="32000"/>
                  </a:srgbClr>
                </a:solidFill>
                <a:latin typeface="Georgia"/>
                <a:ea typeface="Georgia"/>
              </a:rPr>
              <a:t>5%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5800" y="5867400"/>
            <a:ext cx="62865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E8EDF3">
                    <a:alpha val="28000"/>
                  </a:srgbClr>
                </a:solidFill>
                <a:latin typeface="Microsoft YaHei"/>
                <a:ea typeface="Microsoft YaHei"/>
              </a:rPr>
              <a:t>示例分数仅用于演示评分卡结构，不代表任何真实项目的实测结论。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343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综合得分（加权）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162800" y="1419225"/>
            <a:ext cx="904875" cy="11049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900" spc="-225">
                <a:solidFill>
                  <a:srgbClr val="E8EDF3"/>
                </a:solidFill>
                <a:latin typeface="Georgia"/>
                <a:ea typeface="Georgia"/>
              </a:rPr>
              <a:t>56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162925" y="20859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E8EDF3">
                    <a:alpha val="35000"/>
                  </a:srgbClr>
                </a:solidFill>
                <a:latin typeface="Georgia"/>
                <a:ea typeface="Georgia"/>
              </a:rPr>
              <a:t>/ 100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162800" y="2695575"/>
            <a:ext cx="4343400" cy="781050"/>
          </a:xfrm>
          <a:prstGeom prst="rect">
            <a:avLst/>
          </a:prstGeom>
          <a:solidFill>
            <a:srgbClr val="C8A15A">
              <a:alpha val="10000"/>
            </a:srgbClr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7296150" y="2924175"/>
            <a:ext cx="28575" cy="32385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7458075" y="282892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b="1">
                <a:solidFill>
                  <a:srgbClr val="C8A15A"/>
                </a:solidFill>
                <a:latin typeface="Microsoft YaHei"/>
                <a:ea typeface="Microsoft YaHei"/>
              </a:rPr>
              <a:t>判定：不通过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7458075" y="31242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测试覆盖</a:t>
            </a:r>
            <a:r>
              <a:rPr lang="en-US" sz="9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45</a:t>
            </a:r>
            <a:r>
              <a:rPr lang="zh-CN" sz="9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、液路验证</a:t>
            </a:r>
            <a:r>
              <a:rPr lang="en-US" sz="9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42</a:t>
            </a:r>
            <a:r>
              <a:rPr lang="zh-CN" sz="938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，两项触及红线。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162800" y="3686175"/>
            <a:ext cx="4343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加权平均看起来「及格」，但红线机制的意义正在这里：不允许用高分项把低分项拉平。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162800" y="4400550"/>
            <a:ext cx="43434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如果只看总分，这两个缺口会被良率与工装的高分掩盖，直到量产爬坡期才以停线的形式出现。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162800" y="5629275"/>
            <a:ext cx="4343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162800" y="5772150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红线维度：测试覆盖、液路验证。任一项低于</a:t>
            </a:r>
            <a:r>
              <a:rPr lang="en-US" sz="938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938">
                <a:solidFill>
                  <a:srgbClr val="E8EDF3">
                    <a:alpha val="38000"/>
                  </a:srgbClr>
                </a:solidFill>
                <a:latin typeface="Microsoft YaHei"/>
                <a:ea typeface="Microsoft YaHei"/>
              </a:rPr>
              <a:t>分，整体直接判不通过。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115675" y="64579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307" name="" descr="&lt;Slide style={{ width: 1280, height: 720, background: '#0E1420', position: 'relative', overflow: 'hidden' }}&gt;&#13;&#10;&#13;&#10;    &lt;Box style={{ position: 'absolute', left: 72, top: 40, width: 3, height: 44, background: '#C8A15A' }} /&gt;&#13;&#10;    &lt;Box style={{ position: 'absolute', left: 92, top: 36, width: 860 }}&gt;&lt;Text style={{ fontSize: 36, fontWeight: 'bold', lineHeight: 1.3, color: '#E8EDF3' }}&gt;三项动作，把判断依据换掉&lt;/Text&gt;&lt;/Box&gt;&#13;&#10;    &lt;Box style={{ position: 'absolute', right: 72, top: 46 }}&gt;&lt;Text style={{ fontFamily: 'Georgia', fontSize: 14, letterSpacing: 2, color: 'rgba(232,237,243,0.45)' }}&gt;04 · 从误区到工具&lt;/Text&gt;&lt;/Box&gt;&#13;&#10;&#13;&#10;    &lt;Box style={{ position: 'absolute', left: 72, top: 130 }}&gt;&lt;Text style={{ fontSize: 13, letterSpacing: 3, color: '#C8A15A' }}&gt;接下来 90 天&lt;/Text&gt;&lt;/Box&gt;&#13;&#10;&#13;&#10;    &lt;Box style={{ position: 'absolute', left: 72, top: 160, width: 360, height: 1, background: 'rgba(232,237,243,0.16)' }} /&gt;&#13;&#10;&lt;Box style={{ position: 'absolute', left: 72, top: 178 }}&gt;&lt;Text style={{ fontFamily: 'Georgia', fontSize: 104, lineHeight: 1.0, letterSpacing: -4, color: '#C8A15A' }}&gt;30&lt;/Text&gt;&lt;/Box&gt;&#13;&#10;    &lt;Box style={{ position: 'absolute', left: 194, top: 241 }}&gt;&lt;Text style={{ fontSize: 20, lineHeight: 1.3, color: 'rgba(200,161,90,0.62)' }}&gt;天&lt;/Text&gt;&lt;/Box&gt;&#13;&#10;&lt;Box style={{ position: 'absolute', left: 72, top: 318, width: 360 }}&gt;&lt;Text style={{ fontSize: 20, fontWeight: 'bold', lineHeight: 1.4, color: '#E8EDF3' }}&gt;拆覆盖率&lt;/Text&gt;&lt;/Box&gt;&#13;&#10;&lt;Box style={{ position: 'absolute', left: 72, top: 356, width: 344 }}&gt;&lt;Text style={{ fontSize: 14, lineHeight: 1.85, color: 'rgba(232,237,243,0.55)' }}&gt;把「覆盖率 85%」拆成四个分母，逐条写清每一层的分子与分母定义。&lt;/Text&gt;&lt;/Box&gt;&#13;&#10;&lt;Box style={{ position: 'absolute', left: 72, top: 500, width: 344, flexDirection: 'column' }}&gt;&#13;&#10;        &lt;Text style={{ fontSize: 10.5, letterSpacing: 2, color: 'rgba(232,237,243,0.32)' }}&gt;交付物&lt;/Text&gt;&#13;&#10;        &lt;Text style={{ fontSize: 13.5, lineHeight: 1.6, color: '#C8A15A', marginTop: 5 }}&gt;四层覆盖率基线表&lt;/Text&gt;&#13;&#10;    &lt;/Box&gt;&#13;&#10;&lt;Box style={{ position: 'absolute', left: 460, top: 160, width: 360, height: 1, background: 'rgba(232,237,243,0.16)' }} /&gt;&#13;&#10;&lt;Box style={{ position: 'absolute', left: 460, top: 178 }}&gt;&lt;Text style={{ fontFamily: 'Georgia', fontSize: 104, lineHeight: 1.0, letterSpacing: -4, color: '#C8A15A' }}&gt;60&lt;/Text&gt;&lt;/Box&gt;&#13;&#10;    &lt;Box style={{ position: 'absolute', left: 582, top: 241 }}&gt;&lt;Text style={{ fontSize: 20, lineHeight: 1.3, color: 'rgba(200,161,90,0.62)' }}&gt;天&lt;/Text&gt;&lt;/Box&gt;&#13;&#10;&lt;Box style={{ position: 'absolute', left: 460, top: 318, width: 360 }}&gt;&lt;Text style={{ fontSize: 20, fontWeight: 'bold', lineHeight: 1.4, color: '#E8EDF3' }}&gt;两个专项 DVP&lt;/Text&gt;&lt;/Box&gt;&#13;&#10;&lt;Box style={{ position: 'absolute', left: 460, top: 356, width: 344 }}&gt;&lt;Text style={{ fontSize: 14, lineHeight: 1.85, color: 'rgba(232,237,243,0.55)' }}&gt;线缆做装配态判据（互锁 + 误码 + NCCL），液路做六阶段取样点。&lt;/Text&gt;&lt;/Box&gt;&#13;&#10;&lt;Box style={{ position: 'absolute', left: 460, top: 500, width: 344, flexDirection: 'column' }}&gt;&#13;&#10;        &lt;Text style={{ fontSize: 10.5, letterSpacing: 2, color: 'rgba(232,237,243,0.32)' }}&gt;交付物&lt;/Text&gt;&#13;&#10;        &lt;Text style={{ fontSize: 13.5, lineHeight: 1.6, color: '#C8A15A', marginTop: 5 }}&gt;两份专项验证计划&lt;/Text&gt;&#13;&#10;    &lt;/Box&gt;&#13;&#10;&lt;Box style={{ position: 'absolute', left: 848, top: 160, width: 360, height: 1, background: 'rgba(232,237,243,0.16)' }} /&gt;&#13;&#10;&lt;Box style={{ position: 'absolute', left: 848, top: 178 }}&gt;&lt;Text style={{ fontFamily: 'Georgia', fontSize: 104, lineHeight: 1.0, letterSpacing: -4, color: '#C8A15A' }}&gt;90&lt;/Text&gt;&lt;/Box&gt;&#13;&#10;    &lt;Box style={{ position: 'absolute', left: 970, top: 241 }}&gt;&lt;Text style={{ fontSize: 20, lineHeight: 1.3, color: 'rgba(200,161,90,0.62)' }}&gt;天&lt;/Text&gt;&lt;/Box&gt;&#13;&#10;&lt;Box style={{ position: 'absolute', left: 848, top: 318, width: 360 }}&gt;&lt;Text style={{ fontSize: 20, fontWeight: 'bold', lineHeight: 1.4, color: '#E8EDF3' }}&gt;改评审清单&lt;/Text&gt;&lt;/Box&gt;&#13;&#10;&lt;Box style={{ position: 'absolute', left: 848, top: 356, width: 344 }}&gt;&lt;Text style={{ fontSize: 14, lineHeight: 1.85, color: 'rgba(232,237,243,0.55)' }}&gt;把「样机可运行」移出证据清单，改为「样机可运行，且以下证据齐备」。&lt;/Text&gt;&lt;/Box&gt;&#13;&#10;&lt;Box style={{ position: 'absolute', left: 848, top: 500, width: 344, flexDirection: 'column' }}&gt;&#13;&#10;        &lt;Text style={{ fontSize: 10.5, letterSpacing: 2, color: 'rgba(232,237,243,0.32)' }}&gt;交付物&lt;/Text&gt;&#13;&#10;        &lt;Text style={{ fontSize: 13.5, lineHeight: 1.6, color: '#C8A15A', marginTop: 5 }}&gt;修订版评审清单&lt;/Text&gt;&#13;&#10;    &lt;/Box&gt;&#13;&#10;&#13;&#10;    &lt;Box style={{ position: 'absolute', left: 72, top: 570, width: 1136, height: 1, background: 'rgba(232,237,243,0.16)' }} /&gt;&#13;&#10;    &lt;Box style={{ position: 'absolute', left: 72, top: 594, width: 1136 }}&gt;&lt;Text style={{ fontSize: 24, fontWeight: 'bold', lineHeight: 1.55, color: '#E8EDF3' }}&gt;把判断依据从「谁说得更有信心」，换成「谁能拿出可复现的数据」。&lt;/Text&gt;&lt;/Box&gt;&#13;&#10;&#13;&#10;    &lt;Box style={{ position: 'absolute', left: 72, top: 660, width: 1136, height: 1, background: 'rgba(232,237,243,0.10)' }} /&gt;&#13;&#10;    &lt;Box style={{ position: 'absolute', left: 72, top: 678 }}&gt;&lt;Text style={{ fontSize: 14, color: 'rgba(232,237,243,0.35)' }}&gt;可制造性评估维度解析 · 基于 2026 OCP Global Summit 官方材料&lt;/Text&gt;&lt;/Box&gt;&#13;&#10;    &lt;Box style={{ position: 'absolute', right: 72, top: 678 }}&gt;&lt;Text style={{ fontFamily: 'Georgia', fontSize: 14, color: 'rgba(232,237,243,0.45)' }}&gt;16 / 16&lt;/Text&gt;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420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685800" y="381000"/>
            <a:ext cx="28575" cy="419100"/>
          </a:xfrm>
          <a:prstGeom prst="rect">
            <a:avLst/>
          </a:prstGeom>
          <a:solidFill>
            <a:srgbClr val="C8A15A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76300" y="342900"/>
            <a:ext cx="8191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E8EDF3"/>
                </a:solidFill>
                <a:latin typeface="Microsoft YaHei"/>
                <a:ea typeface="Microsoft YaHei"/>
              </a:rPr>
              <a:t>三项动作，把判断依据换掉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829800" y="4381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 xml:space="preserve">04 · </a:t>
            </a:r>
            <a:r>
              <a:rPr lang="zh-CN" sz="1050" spc="1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从误区到工具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238250"/>
            <a:ext cx="942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接下来</a:t>
            </a:r>
            <a:r>
              <a:rPr lang="en-US" sz="975" spc="225">
                <a:solidFill>
                  <a:srgbClr val="C8A15A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975" spc="225">
                <a:solidFill>
                  <a:srgbClr val="C8A15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85800" y="1524000"/>
            <a:ext cx="3429000" cy="9525"/>
          </a:xfrm>
          <a:prstGeom prst="rect">
            <a:avLst/>
          </a:prstGeom>
          <a:solidFill>
            <a:srgbClr val="E8EDF3">
              <a:alpha val="16000"/>
            </a:srgbClr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1695450"/>
            <a:ext cx="1085850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spc="-300">
                <a:solidFill>
                  <a:srgbClr val="C8A15A"/>
                </a:solidFill>
                <a:latin typeface="Georgia"/>
                <a:ea typeface="Georgia"/>
              </a:rPr>
              <a:t>30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847850" y="2295525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>
                <a:solidFill>
                  <a:srgbClr val="C8A15A">
                    <a:alpha val="62000"/>
                  </a:srgbClr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E8EDF3"/>
                </a:solidFill>
                <a:latin typeface="Microsoft YaHei"/>
                <a:ea typeface="Microsoft YaHei"/>
              </a:rPr>
              <a:t>拆覆盖率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3276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把「覆盖率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85%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」拆成四个分母，逐条写清每一层的分子与分母定义。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85800" y="476250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150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5800" y="4933950"/>
            <a:ext cx="32766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C8A15A"/>
                </a:solidFill>
                <a:latin typeface="Microsoft YaHei"/>
                <a:ea typeface="Microsoft YaHei"/>
              </a:rPr>
              <a:t>四层覆盖率基线表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381500" y="1524000"/>
            <a:ext cx="3429000" cy="9525"/>
          </a:xfrm>
          <a:prstGeom prst="rect">
            <a:avLst/>
          </a:prstGeom>
          <a:solidFill>
            <a:srgbClr val="E8EDF3">
              <a:alpha val="16000"/>
            </a:srgbClr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381500" y="1695450"/>
            <a:ext cx="109537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spc="-300">
                <a:solidFill>
                  <a:srgbClr val="C8A15A"/>
                </a:solidFill>
                <a:latin typeface="Georgia"/>
                <a:ea typeface="Georgia"/>
              </a:rPr>
              <a:t>60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543550" y="2295525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>
                <a:solidFill>
                  <a:srgbClr val="C8A15A">
                    <a:alpha val="62000"/>
                  </a:srgbClr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381500" y="3028950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E8EDF3"/>
                </a:solidFill>
                <a:latin typeface="Microsoft YaHei"/>
                <a:ea typeface="Microsoft YaHei"/>
              </a:rPr>
              <a:t>两个专项</a:t>
            </a:r>
            <a:r>
              <a:rPr lang="en-US" sz="1500" b="1">
                <a:solidFill>
                  <a:srgbClr val="E8EDF3"/>
                </a:solidFill>
                <a:latin typeface="Microsoft YaHei"/>
                <a:ea typeface="Microsoft YaHei"/>
              </a:rPr>
              <a:t xml:space="preserve"> DVP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381500" y="3390900"/>
            <a:ext cx="3276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线缆做装配态判据（互锁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误码</a:t>
            </a:r>
            <a:r>
              <a:rPr lang="en-US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 xml:space="preserve"> + NCCL</a:t>
            </a: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），液路做六阶段取样点。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381500" y="476250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150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381500" y="4933950"/>
            <a:ext cx="32766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C8A15A"/>
                </a:solidFill>
                <a:latin typeface="Microsoft YaHei"/>
                <a:ea typeface="Microsoft YaHei"/>
              </a:rPr>
              <a:t>两份专项验证计划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077200" y="1524000"/>
            <a:ext cx="3429000" cy="9525"/>
          </a:xfrm>
          <a:prstGeom prst="rect">
            <a:avLst/>
          </a:prstGeom>
          <a:solidFill>
            <a:srgbClr val="E8EDF3">
              <a:alpha val="16000"/>
            </a:srgbClr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077200" y="1695450"/>
            <a:ext cx="109537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spc="-300">
                <a:solidFill>
                  <a:srgbClr val="C8A15A"/>
                </a:solidFill>
                <a:latin typeface="Georgia"/>
                <a:ea typeface="Georgia"/>
              </a:rPr>
              <a:t>90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239250" y="2295525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00">
                <a:solidFill>
                  <a:srgbClr val="C8A15A">
                    <a:alpha val="62000"/>
                  </a:srgbClr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77200" y="3028950"/>
            <a:ext cx="3429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E8EDF3"/>
                </a:solidFill>
                <a:latin typeface="Microsoft YaHei"/>
                <a:ea typeface="Microsoft YaHei"/>
              </a:rPr>
              <a:t>改评审清单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077200" y="3390900"/>
            <a:ext cx="32766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E8EDF3">
                    <a:alpha val="55000"/>
                  </a:srgbClr>
                </a:solidFill>
                <a:latin typeface="Microsoft YaHei"/>
                <a:ea typeface="Microsoft YaHei"/>
              </a:rPr>
              <a:t>把「样机可运行」移出证据清单，改为「样机可运行，且以下证据齐备」。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77200" y="4762500"/>
            <a:ext cx="3276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150">
                <a:solidFill>
                  <a:srgbClr val="E8EDF3">
                    <a:alpha val="32000"/>
                  </a:srgbClr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077200" y="4933950"/>
            <a:ext cx="32766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C8A15A"/>
                </a:solidFill>
                <a:latin typeface="Microsoft YaHei"/>
                <a:ea typeface="Microsoft YaHei"/>
              </a:rPr>
              <a:t>修订版评审清单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85800" y="5429250"/>
            <a:ext cx="10820400" cy="9525"/>
          </a:xfrm>
          <a:prstGeom prst="rect">
            <a:avLst/>
          </a:prstGeom>
          <a:solidFill>
            <a:srgbClr val="E8EDF3">
              <a:alpha val="16000"/>
            </a:srgbClr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5800" y="5657850"/>
            <a:ext cx="10820400" cy="4286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800" b="1">
                <a:solidFill>
                  <a:srgbClr val="E8EDF3"/>
                </a:solidFill>
                <a:latin typeface="Microsoft YaHei"/>
                <a:ea typeface="Microsoft YaHei"/>
              </a:rPr>
              <a:t>把判断依据从「谁说得更有信心」，换成「谁能拿出可复现的数据」。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85800" y="6286500"/>
            <a:ext cx="10820400" cy="9525"/>
          </a:xfrm>
          <a:prstGeom prst="rect">
            <a:avLst/>
          </a:prstGeom>
          <a:solidFill>
            <a:srgbClr val="E8EDF3">
              <a:alpha val="10000"/>
            </a:srgbClr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可制造性评估维度解析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 xml:space="preserve"> 2026 OCP Global Summit </a:t>
            </a:r>
            <a:r>
              <a:rPr lang="zh-CN" sz="1050">
                <a:solidFill>
                  <a:srgbClr val="E8EDF3">
                    <a:alpha val="35000"/>
                  </a:srgbClr>
                </a:solidFill>
                <a:latin typeface="Microsoft YaHei"/>
                <a:ea typeface="Microsoft YaHei"/>
              </a:rPr>
              <a:t>官方材料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106150" y="64579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DF3">
                    <a:alpha val="45000"/>
                  </a:srgbClr>
                </a:solidFill>
                <a:latin typeface="Georgia"/>
                <a:ea typeface="Georgia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2026-10-18T13:59:50Z</dcterms:created>
  <dcterms:modified xsi:type="dcterms:W3CDTF">2026-10-18T13:59:50Z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{"AIGC":{"Label":"1","ContentProducer":"00119111010856365494821B355","ProduceID":"01a14d5a4e287467b759ba3978073d1d","ReservedCode1":"","ContentPropagator":"00119111010856365494821B355","PropagateID":"01a14d5a4e287467b759ba3978073d1d","ReservedCode2":""}}</vt:lpwstr>
  </property>
</Properties>
</file>